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ontserrat" charset="1" panose="00000500000000000000"/>
      <p:regular r:id="rId14"/>
    </p:embeddedFont>
    <p:embeddedFont>
      <p:font typeface="Alice" charset="1" panose="00000500000000000000"/>
      <p:regular r:id="rId15"/>
    </p:embeddedFont>
    <p:embeddedFont>
      <p:font typeface="Montserrat Bold" charset="1" panose="000008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1282E"/>
        </a:solidFill>
      </p:bgPr>
    </p:bg>
    <p:spTree>
      <p:nvGrpSpPr>
        <p:cNvPr id="1" name=""/>
        <p:cNvGrpSpPr/>
        <p:nvPr/>
      </p:nvGrpSpPr>
      <p:grpSpPr>
        <a:xfrm>
          <a:off x="0" y="0"/>
          <a:ext cx="0" cy="0"/>
          <a:chOff x="0" y="0"/>
          <a:chExt cx="0" cy="0"/>
        </a:xfrm>
      </p:grpSpPr>
      <p:grpSp>
        <p:nvGrpSpPr>
          <p:cNvPr name="Group 2" id="2"/>
          <p:cNvGrpSpPr/>
          <p:nvPr/>
        </p:nvGrpSpPr>
        <p:grpSpPr>
          <a:xfrm rot="0">
            <a:off x="3800180" y="5549949"/>
            <a:ext cx="10410836" cy="773025"/>
            <a:chOff x="0" y="0"/>
            <a:chExt cx="2741949" cy="203595"/>
          </a:xfrm>
        </p:grpSpPr>
        <p:sp>
          <p:nvSpPr>
            <p:cNvPr name="Freeform 3" id="3"/>
            <p:cNvSpPr/>
            <p:nvPr/>
          </p:nvSpPr>
          <p:spPr>
            <a:xfrm flipH="false" flipV="false" rot="0">
              <a:off x="0" y="0"/>
              <a:ext cx="2741949" cy="203595"/>
            </a:xfrm>
            <a:custGeom>
              <a:avLst/>
              <a:gdLst/>
              <a:ahLst/>
              <a:cxnLst/>
              <a:rect r="r" b="b" t="t" l="l"/>
              <a:pathLst>
                <a:path h="203595" w="2741949">
                  <a:moveTo>
                    <a:pt x="34951" y="0"/>
                  </a:moveTo>
                  <a:lnTo>
                    <a:pt x="2706998" y="0"/>
                  </a:lnTo>
                  <a:cubicBezTo>
                    <a:pt x="2726301" y="0"/>
                    <a:pt x="2741949" y="15648"/>
                    <a:pt x="2741949" y="34951"/>
                  </a:cubicBezTo>
                  <a:lnTo>
                    <a:pt x="2741949" y="168644"/>
                  </a:lnTo>
                  <a:cubicBezTo>
                    <a:pt x="2741949" y="187947"/>
                    <a:pt x="2726301" y="203595"/>
                    <a:pt x="2706998" y="203595"/>
                  </a:cubicBezTo>
                  <a:lnTo>
                    <a:pt x="34951" y="203595"/>
                  </a:lnTo>
                  <a:cubicBezTo>
                    <a:pt x="15648" y="203595"/>
                    <a:pt x="0" y="187947"/>
                    <a:pt x="0" y="168644"/>
                  </a:cubicBezTo>
                  <a:lnTo>
                    <a:pt x="0" y="34951"/>
                  </a:lnTo>
                  <a:cubicBezTo>
                    <a:pt x="0" y="15648"/>
                    <a:pt x="15648" y="0"/>
                    <a:pt x="34951" y="0"/>
                  </a:cubicBezTo>
                  <a:close/>
                </a:path>
              </a:pathLst>
            </a:custGeom>
            <a:ln w="38100" cap="rnd">
              <a:solidFill>
                <a:srgbClr val="FFA205"/>
              </a:solidFill>
              <a:prstDash val="solid"/>
              <a:round/>
            </a:ln>
          </p:spPr>
        </p:sp>
        <p:sp>
          <p:nvSpPr>
            <p:cNvPr name="TextBox 4" id="4"/>
            <p:cNvSpPr txBox="true"/>
            <p:nvPr/>
          </p:nvSpPr>
          <p:spPr>
            <a:xfrm>
              <a:off x="0" y="9525"/>
              <a:ext cx="2741949" cy="194070"/>
            </a:xfrm>
            <a:prstGeom prst="rect">
              <a:avLst/>
            </a:prstGeom>
          </p:spPr>
          <p:txBody>
            <a:bodyPr anchor="ctr" rtlCol="false" tIns="50800" lIns="50800" bIns="50800" rIns="50800"/>
            <a:lstStyle/>
            <a:p>
              <a:pPr algn="ctr">
                <a:lnSpc>
                  <a:spcPts val="2879"/>
                </a:lnSpc>
              </a:pPr>
              <a:r>
                <a:rPr lang="en-US" sz="2400">
                  <a:solidFill>
                    <a:srgbClr val="FFA205"/>
                  </a:solidFill>
                  <a:latin typeface="Montserrat"/>
                  <a:ea typeface="Montserrat"/>
                  <a:cs typeface="Montserrat"/>
                  <a:sym typeface="Montserrat"/>
                </a:rPr>
                <a:t>EXPLORE. PROTECT. PRESERVE.</a:t>
              </a:r>
            </a:p>
          </p:txBody>
        </p:sp>
      </p:grpSp>
      <p:sp>
        <p:nvSpPr>
          <p:cNvPr name="Freeform 5" id="5"/>
          <p:cNvSpPr/>
          <p:nvPr/>
        </p:nvSpPr>
        <p:spPr>
          <a:xfrm flipH="false" flipV="false" rot="0">
            <a:off x="15393513" y="1883628"/>
            <a:ext cx="4161003" cy="8878693"/>
          </a:xfrm>
          <a:custGeom>
            <a:avLst/>
            <a:gdLst/>
            <a:ahLst/>
            <a:cxnLst/>
            <a:rect r="r" b="b" t="t" l="l"/>
            <a:pathLst>
              <a:path h="8878693" w="4161003">
                <a:moveTo>
                  <a:pt x="0" y="0"/>
                </a:moveTo>
                <a:lnTo>
                  <a:pt x="4161003" y="0"/>
                </a:lnTo>
                <a:lnTo>
                  <a:pt x="4161003" y="8878693"/>
                </a:lnTo>
                <a:lnTo>
                  <a:pt x="0" y="88786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90216" y="9544328"/>
            <a:ext cx="7022811" cy="948079"/>
          </a:xfrm>
          <a:custGeom>
            <a:avLst/>
            <a:gdLst/>
            <a:ahLst/>
            <a:cxnLst/>
            <a:rect r="r" b="b" t="t" l="l"/>
            <a:pathLst>
              <a:path h="948079" w="7022811">
                <a:moveTo>
                  <a:pt x="0" y="0"/>
                </a:moveTo>
                <a:lnTo>
                  <a:pt x="7022811" y="0"/>
                </a:lnTo>
                <a:lnTo>
                  <a:pt x="7022811" y="948080"/>
                </a:lnTo>
                <a:lnTo>
                  <a:pt x="0" y="948080"/>
                </a:lnTo>
                <a:lnTo>
                  <a:pt x="0" y="0"/>
                </a:lnTo>
                <a:close/>
              </a:path>
            </a:pathLst>
          </a:custGeom>
          <a:blipFill>
            <a:blip r:embed="rId4"/>
            <a:stretch>
              <a:fillRect l="0" t="0" r="0" b="0"/>
            </a:stretch>
          </a:blipFill>
        </p:spPr>
      </p:sp>
      <p:sp>
        <p:nvSpPr>
          <p:cNvPr name="Freeform 7" id="7"/>
          <p:cNvSpPr/>
          <p:nvPr/>
        </p:nvSpPr>
        <p:spPr>
          <a:xfrm flipH="false" flipV="false" rot="0">
            <a:off x="5632595" y="9544328"/>
            <a:ext cx="7022811" cy="948079"/>
          </a:xfrm>
          <a:custGeom>
            <a:avLst/>
            <a:gdLst/>
            <a:ahLst/>
            <a:cxnLst/>
            <a:rect r="r" b="b" t="t" l="l"/>
            <a:pathLst>
              <a:path h="948079" w="7022811">
                <a:moveTo>
                  <a:pt x="0" y="0"/>
                </a:moveTo>
                <a:lnTo>
                  <a:pt x="7022810" y="0"/>
                </a:lnTo>
                <a:lnTo>
                  <a:pt x="7022810" y="948080"/>
                </a:lnTo>
                <a:lnTo>
                  <a:pt x="0" y="948080"/>
                </a:lnTo>
                <a:lnTo>
                  <a:pt x="0" y="0"/>
                </a:lnTo>
                <a:close/>
              </a:path>
            </a:pathLst>
          </a:custGeom>
          <a:blipFill>
            <a:blip r:embed="rId4"/>
            <a:stretch>
              <a:fillRect l="0" t="0" r="0" b="0"/>
            </a:stretch>
          </a:blipFill>
        </p:spPr>
      </p:sp>
      <p:sp>
        <p:nvSpPr>
          <p:cNvPr name="Freeform 8" id="8"/>
          <p:cNvSpPr/>
          <p:nvPr/>
        </p:nvSpPr>
        <p:spPr>
          <a:xfrm flipH="false" flipV="false" rot="0">
            <a:off x="12655405" y="9544328"/>
            <a:ext cx="7022811" cy="948079"/>
          </a:xfrm>
          <a:custGeom>
            <a:avLst/>
            <a:gdLst/>
            <a:ahLst/>
            <a:cxnLst/>
            <a:rect r="r" b="b" t="t" l="l"/>
            <a:pathLst>
              <a:path h="948079" w="7022811">
                <a:moveTo>
                  <a:pt x="0" y="0"/>
                </a:moveTo>
                <a:lnTo>
                  <a:pt x="7022811" y="0"/>
                </a:lnTo>
                <a:lnTo>
                  <a:pt x="7022811" y="948080"/>
                </a:lnTo>
                <a:lnTo>
                  <a:pt x="0" y="948080"/>
                </a:lnTo>
                <a:lnTo>
                  <a:pt x="0" y="0"/>
                </a:lnTo>
                <a:close/>
              </a:path>
            </a:pathLst>
          </a:custGeom>
          <a:blipFill>
            <a:blip r:embed="rId4"/>
            <a:stretch>
              <a:fillRect l="0" t="0" r="0" b="0"/>
            </a:stretch>
          </a:blipFill>
        </p:spPr>
      </p:sp>
      <p:sp>
        <p:nvSpPr>
          <p:cNvPr name="Freeform 9" id="9"/>
          <p:cNvSpPr/>
          <p:nvPr/>
        </p:nvSpPr>
        <p:spPr>
          <a:xfrm flipH="false" flipV="false" rot="0">
            <a:off x="12655405" y="-2811384"/>
            <a:ext cx="6139389" cy="4114800"/>
          </a:xfrm>
          <a:custGeom>
            <a:avLst/>
            <a:gdLst/>
            <a:ahLst/>
            <a:cxnLst/>
            <a:rect r="r" b="b" t="t" l="l"/>
            <a:pathLst>
              <a:path h="4114800" w="6139389">
                <a:moveTo>
                  <a:pt x="0" y="0"/>
                </a:moveTo>
                <a:lnTo>
                  <a:pt x="6139389" y="0"/>
                </a:lnTo>
                <a:lnTo>
                  <a:pt x="613938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2213095" y="391365"/>
            <a:ext cx="7057582" cy="4479083"/>
          </a:xfrm>
          <a:custGeom>
            <a:avLst/>
            <a:gdLst/>
            <a:ahLst/>
            <a:cxnLst/>
            <a:rect r="r" b="b" t="t" l="l"/>
            <a:pathLst>
              <a:path h="4479083" w="7057582">
                <a:moveTo>
                  <a:pt x="0" y="0"/>
                </a:moveTo>
                <a:lnTo>
                  <a:pt x="7057582" y="0"/>
                </a:lnTo>
                <a:lnTo>
                  <a:pt x="7057582" y="4479083"/>
                </a:lnTo>
                <a:lnTo>
                  <a:pt x="0" y="44790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2451542" y="1351634"/>
            <a:ext cx="1004341" cy="1203459"/>
          </a:xfrm>
          <a:custGeom>
            <a:avLst/>
            <a:gdLst/>
            <a:ahLst/>
            <a:cxnLst/>
            <a:rect r="r" b="b" t="t" l="l"/>
            <a:pathLst>
              <a:path h="1203459" w="1004341">
                <a:moveTo>
                  <a:pt x="0" y="0"/>
                </a:moveTo>
                <a:lnTo>
                  <a:pt x="1004341" y="0"/>
                </a:lnTo>
                <a:lnTo>
                  <a:pt x="1004341" y="1203459"/>
                </a:lnTo>
                <a:lnTo>
                  <a:pt x="0" y="1203459"/>
                </a:lnTo>
                <a:lnTo>
                  <a:pt x="0" y="0"/>
                </a:lnTo>
                <a:close/>
              </a:path>
            </a:pathLst>
          </a:custGeom>
          <a:blipFill>
            <a:blip r:embed="rId9"/>
            <a:stretch>
              <a:fillRect l="0" t="0" r="0" b="0"/>
            </a:stretch>
          </a:blipFill>
        </p:spPr>
      </p:sp>
      <p:grpSp>
        <p:nvGrpSpPr>
          <p:cNvPr name="Group 12" id="12"/>
          <p:cNvGrpSpPr/>
          <p:nvPr/>
        </p:nvGrpSpPr>
        <p:grpSpPr>
          <a:xfrm rot="0">
            <a:off x="12350398" y="8239887"/>
            <a:ext cx="5937602" cy="2047113"/>
            <a:chOff x="0" y="0"/>
            <a:chExt cx="1221729" cy="421217"/>
          </a:xfrm>
        </p:grpSpPr>
        <p:sp>
          <p:nvSpPr>
            <p:cNvPr name="Freeform 13" id="13"/>
            <p:cNvSpPr/>
            <p:nvPr/>
          </p:nvSpPr>
          <p:spPr>
            <a:xfrm flipH="false" flipV="false" rot="0">
              <a:off x="0" y="0"/>
              <a:ext cx="1221729" cy="421217"/>
            </a:xfrm>
            <a:custGeom>
              <a:avLst/>
              <a:gdLst/>
              <a:ahLst/>
              <a:cxnLst/>
              <a:rect r="r" b="b" t="t" l="l"/>
              <a:pathLst>
                <a:path h="421217" w="1221729">
                  <a:moveTo>
                    <a:pt x="38709" y="0"/>
                  </a:moveTo>
                  <a:lnTo>
                    <a:pt x="1183020" y="0"/>
                  </a:lnTo>
                  <a:cubicBezTo>
                    <a:pt x="1193286" y="0"/>
                    <a:pt x="1203132" y="4078"/>
                    <a:pt x="1210391" y="11338"/>
                  </a:cubicBezTo>
                  <a:cubicBezTo>
                    <a:pt x="1217650" y="18597"/>
                    <a:pt x="1221729" y="28443"/>
                    <a:pt x="1221729" y="38709"/>
                  </a:cubicBezTo>
                  <a:lnTo>
                    <a:pt x="1221729" y="382508"/>
                  </a:lnTo>
                  <a:cubicBezTo>
                    <a:pt x="1221729" y="392774"/>
                    <a:pt x="1217650" y="402620"/>
                    <a:pt x="1210391" y="409879"/>
                  </a:cubicBezTo>
                  <a:cubicBezTo>
                    <a:pt x="1203132" y="417138"/>
                    <a:pt x="1193286" y="421217"/>
                    <a:pt x="1183020" y="421217"/>
                  </a:cubicBezTo>
                  <a:lnTo>
                    <a:pt x="38709" y="421217"/>
                  </a:lnTo>
                  <a:cubicBezTo>
                    <a:pt x="17331" y="421217"/>
                    <a:pt x="0" y="403886"/>
                    <a:pt x="0" y="382508"/>
                  </a:cubicBezTo>
                  <a:lnTo>
                    <a:pt x="0" y="38709"/>
                  </a:lnTo>
                  <a:cubicBezTo>
                    <a:pt x="0" y="28443"/>
                    <a:pt x="4078" y="18597"/>
                    <a:pt x="11338" y="11338"/>
                  </a:cubicBezTo>
                  <a:cubicBezTo>
                    <a:pt x="18597" y="4078"/>
                    <a:pt x="28443" y="0"/>
                    <a:pt x="38709" y="0"/>
                  </a:cubicBezTo>
                  <a:close/>
                </a:path>
              </a:pathLst>
            </a:custGeom>
            <a:solidFill>
              <a:srgbClr val="000000"/>
            </a:solidFill>
          </p:spPr>
        </p:sp>
        <p:sp>
          <p:nvSpPr>
            <p:cNvPr name="TextBox 14" id="14"/>
            <p:cNvSpPr txBox="true"/>
            <p:nvPr/>
          </p:nvSpPr>
          <p:spPr>
            <a:xfrm>
              <a:off x="0" y="9525"/>
              <a:ext cx="1221729" cy="411692"/>
            </a:xfrm>
            <a:prstGeom prst="rect">
              <a:avLst/>
            </a:prstGeom>
          </p:spPr>
          <p:txBody>
            <a:bodyPr anchor="ctr" rtlCol="false" tIns="50800" lIns="50800" bIns="50800" rIns="50800"/>
            <a:lstStyle/>
            <a:p>
              <a:pPr algn="ctr">
                <a:lnSpc>
                  <a:spcPts val="2879"/>
                </a:lnSpc>
              </a:pPr>
            </a:p>
          </p:txBody>
        </p:sp>
      </p:grpSp>
      <p:sp>
        <p:nvSpPr>
          <p:cNvPr name="TextBox 15" id="15"/>
          <p:cNvSpPr txBox="true"/>
          <p:nvPr/>
        </p:nvSpPr>
        <p:spPr>
          <a:xfrm rot="0">
            <a:off x="3455883" y="2991486"/>
            <a:ext cx="11099430" cy="2152014"/>
          </a:xfrm>
          <a:prstGeom prst="rect">
            <a:avLst/>
          </a:prstGeom>
        </p:spPr>
        <p:txBody>
          <a:bodyPr anchor="t" rtlCol="false" tIns="0" lIns="0" bIns="0" rIns="0">
            <a:spAutoFit/>
          </a:bodyPr>
          <a:lstStyle/>
          <a:p>
            <a:pPr algn="ctr">
              <a:lnSpc>
                <a:spcPts val="5599"/>
              </a:lnSpc>
            </a:pPr>
            <a:r>
              <a:rPr lang="en-US" sz="5599">
                <a:solidFill>
                  <a:srgbClr val="10C882"/>
                </a:solidFill>
                <a:latin typeface="Alice"/>
                <a:ea typeface="Alice"/>
                <a:cs typeface="Alice"/>
                <a:sym typeface="Alice"/>
              </a:rPr>
              <a:t>DYNAMIC BELIEF-STATE BASED ANTI-POACHING PATROL PLANNING SYSTEM</a:t>
            </a:r>
          </a:p>
        </p:txBody>
      </p:sp>
      <p:sp>
        <p:nvSpPr>
          <p:cNvPr name="TextBox 16" id="16"/>
          <p:cNvSpPr txBox="true"/>
          <p:nvPr/>
        </p:nvSpPr>
        <p:spPr>
          <a:xfrm rot="0">
            <a:off x="12448943" y="8429679"/>
            <a:ext cx="5723253" cy="1647717"/>
          </a:xfrm>
          <a:prstGeom prst="rect">
            <a:avLst/>
          </a:prstGeom>
        </p:spPr>
        <p:txBody>
          <a:bodyPr anchor="t" rtlCol="false" tIns="0" lIns="0" bIns="0" rIns="0">
            <a:spAutoFit/>
          </a:bodyPr>
          <a:lstStyle/>
          <a:p>
            <a:pPr algn="l">
              <a:lnSpc>
                <a:spcPts val="3239"/>
              </a:lnSpc>
            </a:pPr>
            <a:r>
              <a:rPr lang="en-US" sz="2699">
                <a:solidFill>
                  <a:srgbClr val="FFFFFF"/>
                </a:solidFill>
                <a:latin typeface="Alice"/>
                <a:ea typeface="Alice"/>
                <a:cs typeface="Alice"/>
                <a:sym typeface="Alice"/>
              </a:rPr>
              <a:t>Mohamed Ismail Fawaz K P , </a:t>
            </a:r>
          </a:p>
          <a:p>
            <a:pPr algn="l">
              <a:lnSpc>
                <a:spcPts val="3239"/>
              </a:lnSpc>
            </a:pPr>
            <a:r>
              <a:rPr lang="en-US" sz="2699">
                <a:solidFill>
                  <a:srgbClr val="FFFFFF"/>
                </a:solidFill>
                <a:latin typeface="Alice"/>
                <a:ea typeface="Alice"/>
                <a:cs typeface="Alice"/>
                <a:sym typeface="Alice"/>
              </a:rPr>
              <a:t>240701324</a:t>
            </a:r>
          </a:p>
          <a:p>
            <a:pPr algn="l">
              <a:lnSpc>
                <a:spcPts val="3239"/>
              </a:lnSpc>
              <a:spcBef>
                <a:spcPct val="0"/>
              </a:spcBef>
            </a:pPr>
            <a:r>
              <a:rPr lang="en-US" sz="2699">
                <a:solidFill>
                  <a:srgbClr val="FFFFFF"/>
                </a:solidFill>
                <a:latin typeface="Alice"/>
                <a:ea typeface="Alice"/>
                <a:cs typeface="Alice"/>
                <a:sym typeface="Alice"/>
              </a:rPr>
              <a:t>Mohammed Rizwan Sheik Mansoor, 240701327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1282E"/>
        </a:solidFill>
      </p:bgPr>
    </p:bg>
    <p:spTree>
      <p:nvGrpSpPr>
        <p:cNvPr id="1" name=""/>
        <p:cNvGrpSpPr/>
        <p:nvPr/>
      </p:nvGrpSpPr>
      <p:grpSpPr>
        <a:xfrm>
          <a:off x="0" y="0"/>
          <a:ext cx="0" cy="0"/>
          <a:chOff x="0" y="0"/>
          <a:chExt cx="0" cy="0"/>
        </a:xfrm>
      </p:grpSpPr>
      <p:grpSp>
        <p:nvGrpSpPr>
          <p:cNvPr name="Group 2" id="2"/>
          <p:cNvGrpSpPr/>
          <p:nvPr/>
        </p:nvGrpSpPr>
        <p:grpSpPr>
          <a:xfrm rot="0">
            <a:off x="11398741" y="1028700"/>
            <a:ext cx="2865223" cy="8229600"/>
            <a:chOff x="0" y="0"/>
            <a:chExt cx="754627" cy="2167467"/>
          </a:xfrm>
        </p:grpSpPr>
        <p:sp>
          <p:nvSpPr>
            <p:cNvPr name="Freeform 3" id="3"/>
            <p:cNvSpPr/>
            <p:nvPr/>
          </p:nvSpPr>
          <p:spPr>
            <a:xfrm flipH="false" flipV="false" rot="0">
              <a:off x="0" y="0"/>
              <a:ext cx="754627" cy="2167467"/>
            </a:xfrm>
            <a:custGeom>
              <a:avLst/>
              <a:gdLst/>
              <a:ahLst/>
              <a:cxnLst/>
              <a:rect r="r" b="b" t="t" l="l"/>
              <a:pathLst>
                <a:path h="2167467" w="754627">
                  <a:moveTo>
                    <a:pt x="0" y="0"/>
                  </a:moveTo>
                  <a:lnTo>
                    <a:pt x="754627" y="0"/>
                  </a:lnTo>
                  <a:lnTo>
                    <a:pt x="754627" y="2167467"/>
                  </a:lnTo>
                  <a:lnTo>
                    <a:pt x="0" y="2167467"/>
                  </a:lnTo>
                  <a:close/>
                </a:path>
              </a:pathLst>
            </a:custGeom>
            <a:solidFill>
              <a:srgbClr val="10C882"/>
            </a:solidFill>
          </p:spPr>
        </p:sp>
        <p:sp>
          <p:nvSpPr>
            <p:cNvPr name="TextBox 4" id="4"/>
            <p:cNvSpPr txBox="true"/>
            <p:nvPr/>
          </p:nvSpPr>
          <p:spPr>
            <a:xfrm>
              <a:off x="0" y="9525"/>
              <a:ext cx="754627" cy="2157942"/>
            </a:xfrm>
            <a:prstGeom prst="rect">
              <a:avLst/>
            </a:prstGeom>
          </p:spPr>
          <p:txBody>
            <a:bodyPr anchor="ctr" rtlCol="false" tIns="50800" lIns="50800" bIns="50800" rIns="50800"/>
            <a:lstStyle/>
            <a:p>
              <a:pPr algn="ctr">
                <a:lnSpc>
                  <a:spcPts val="2879"/>
                </a:lnSpc>
              </a:pPr>
            </a:p>
          </p:txBody>
        </p:sp>
      </p:grpSp>
      <p:grpSp>
        <p:nvGrpSpPr>
          <p:cNvPr name="Group 5" id="5"/>
          <p:cNvGrpSpPr/>
          <p:nvPr/>
        </p:nvGrpSpPr>
        <p:grpSpPr>
          <a:xfrm rot="0">
            <a:off x="14394077" y="1028700"/>
            <a:ext cx="2865223" cy="8229600"/>
            <a:chOff x="0" y="0"/>
            <a:chExt cx="754627" cy="2167467"/>
          </a:xfrm>
        </p:grpSpPr>
        <p:sp>
          <p:nvSpPr>
            <p:cNvPr name="Freeform 6" id="6"/>
            <p:cNvSpPr/>
            <p:nvPr/>
          </p:nvSpPr>
          <p:spPr>
            <a:xfrm flipH="false" flipV="false" rot="0">
              <a:off x="0" y="0"/>
              <a:ext cx="754627" cy="2167467"/>
            </a:xfrm>
            <a:custGeom>
              <a:avLst/>
              <a:gdLst/>
              <a:ahLst/>
              <a:cxnLst/>
              <a:rect r="r" b="b" t="t" l="l"/>
              <a:pathLst>
                <a:path h="2167467" w="754627">
                  <a:moveTo>
                    <a:pt x="0" y="0"/>
                  </a:moveTo>
                  <a:lnTo>
                    <a:pt x="754627" y="0"/>
                  </a:lnTo>
                  <a:lnTo>
                    <a:pt x="754627" y="2167467"/>
                  </a:lnTo>
                  <a:lnTo>
                    <a:pt x="0" y="2167467"/>
                  </a:lnTo>
                  <a:close/>
                </a:path>
              </a:pathLst>
            </a:custGeom>
            <a:solidFill>
              <a:srgbClr val="FFA205"/>
            </a:solidFill>
          </p:spPr>
        </p:sp>
        <p:sp>
          <p:nvSpPr>
            <p:cNvPr name="TextBox 7" id="7"/>
            <p:cNvSpPr txBox="true"/>
            <p:nvPr/>
          </p:nvSpPr>
          <p:spPr>
            <a:xfrm>
              <a:off x="0" y="9525"/>
              <a:ext cx="754627" cy="2157942"/>
            </a:xfrm>
            <a:prstGeom prst="rect">
              <a:avLst/>
            </a:prstGeom>
          </p:spPr>
          <p:txBody>
            <a:bodyPr anchor="ctr" rtlCol="false" tIns="50800" lIns="50800" bIns="50800" rIns="50800"/>
            <a:lstStyle/>
            <a:p>
              <a:pPr algn="ctr">
                <a:lnSpc>
                  <a:spcPts val="2879"/>
                </a:lnSpc>
              </a:pPr>
            </a:p>
          </p:txBody>
        </p:sp>
      </p:grpSp>
      <p:sp>
        <p:nvSpPr>
          <p:cNvPr name="Freeform 8" id="8"/>
          <p:cNvSpPr/>
          <p:nvPr/>
        </p:nvSpPr>
        <p:spPr>
          <a:xfrm flipH="false" flipV="false" rot="0">
            <a:off x="11401978" y="3141906"/>
            <a:ext cx="2861986" cy="4279352"/>
          </a:xfrm>
          <a:custGeom>
            <a:avLst/>
            <a:gdLst/>
            <a:ahLst/>
            <a:cxnLst/>
            <a:rect r="r" b="b" t="t" l="l"/>
            <a:pathLst>
              <a:path h="4279352" w="2861986">
                <a:moveTo>
                  <a:pt x="0" y="0"/>
                </a:moveTo>
                <a:lnTo>
                  <a:pt x="2861986" y="0"/>
                </a:lnTo>
                <a:lnTo>
                  <a:pt x="2861986" y="4279352"/>
                </a:lnTo>
                <a:lnTo>
                  <a:pt x="0" y="4279352"/>
                </a:lnTo>
                <a:lnTo>
                  <a:pt x="0" y="0"/>
                </a:lnTo>
                <a:close/>
              </a:path>
            </a:pathLst>
          </a:custGeom>
          <a:blipFill>
            <a:blip r:embed="rId2">
              <a:extLst>
                <a:ext uri="{96DAC541-7B7A-43D3-8B79-37D633B846F1}">
                  <asvg:svgBlip xmlns:asvg="http://schemas.microsoft.com/office/drawing/2016/SVG/main" r:embed="rId3"/>
                </a:ext>
              </a:extLst>
            </a:blip>
            <a:stretch>
              <a:fillRect l="-59594" t="0" r="-40986" b="0"/>
            </a:stretch>
          </a:blipFill>
        </p:spPr>
      </p:sp>
      <p:sp>
        <p:nvSpPr>
          <p:cNvPr name="Freeform 9" id="9"/>
          <p:cNvSpPr/>
          <p:nvPr/>
        </p:nvSpPr>
        <p:spPr>
          <a:xfrm flipH="false" flipV="false" rot="0">
            <a:off x="14675388" y="2029054"/>
            <a:ext cx="2583912" cy="7229246"/>
          </a:xfrm>
          <a:custGeom>
            <a:avLst/>
            <a:gdLst/>
            <a:ahLst/>
            <a:cxnLst/>
            <a:rect r="r" b="b" t="t" l="l"/>
            <a:pathLst>
              <a:path h="7229246" w="2583912">
                <a:moveTo>
                  <a:pt x="0" y="0"/>
                </a:moveTo>
                <a:lnTo>
                  <a:pt x="2583912" y="0"/>
                </a:lnTo>
                <a:lnTo>
                  <a:pt x="2583912" y="7229246"/>
                </a:lnTo>
                <a:lnTo>
                  <a:pt x="0" y="7229246"/>
                </a:lnTo>
                <a:lnTo>
                  <a:pt x="0" y="0"/>
                </a:lnTo>
                <a:close/>
              </a:path>
            </a:pathLst>
          </a:custGeom>
          <a:blipFill>
            <a:blip r:embed="rId4">
              <a:extLst>
                <a:ext uri="{96DAC541-7B7A-43D3-8B79-37D633B846F1}">
                  <asvg:svgBlip xmlns:asvg="http://schemas.microsoft.com/office/drawing/2016/SVG/main" r:embed="rId5"/>
                </a:ext>
              </a:extLst>
            </a:blip>
            <a:stretch>
              <a:fillRect l="0" t="0" r="-144154" b="-57784"/>
            </a:stretch>
          </a:blipFill>
        </p:spPr>
      </p:sp>
      <p:sp>
        <p:nvSpPr>
          <p:cNvPr name="TextBox 10" id="10"/>
          <p:cNvSpPr txBox="true"/>
          <p:nvPr/>
        </p:nvSpPr>
        <p:spPr>
          <a:xfrm rot="0">
            <a:off x="1028700" y="1339432"/>
            <a:ext cx="9579481" cy="1426439"/>
          </a:xfrm>
          <a:prstGeom prst="rect">
            <a:avLst/>
          </a:prstGeom>
        </p:spPr>
        <p:txBody>
          <a:bodyPr anchor="t" rtlCol="false" tIns="0" lIns="0" bIns="0" rIns="0">
            <a:spAutoFit/>
          </a:bodyPr>
          <a:lstStyle/>
          <a:p>
            <a:pPr algn="l">
              <a:lnSpc>
                <a:spcPts val="10294"/>
              </a:lnSpc>
            </a:pPr>
            <a:r>
              <a:rPr lang="en-US" sz="11438">
                <a:solidFill>
                  <a:srgbClr val="10C882"/>
                </a:solidFill>
                <a:latin typeface="Alice"/>
                <a:ea typeface="Alice"/>
                <a:cs typeface="Alice"/>
                <a:sym typeface="Alice"/>
              </a:rPr>
              <a:t>ABSTRACT</a:t>
            </a:r>
          </a:p>
        </p:txBody>
      </p:sp>
      <p:sp>
        <p:nvSpPr>
          <p:cNvPr name="TextBox 11" id="11"/>
          <p:cNvSpPr txBox="true"/>
          <p:nvPr/>
        </p:nvSpPr>
        <p:spPr>
          <a:xfrm rot="0">
            <a:off x="1028700" y="3197842"/>
            <a:ext cx="9579481" cy="5210175"/>
          </a:xfrm>
          <a:prstGeom prst="rect">
            <a:avLst/>
          </a:prstGeom>
        </p:spPr>
        <p:txBody>
          <a:bodyPr anchor="t" rtlCol="false" tIns="0" lIns="0" bIns="0" rIns="0">
            <a:spAutoFit/>
          </a:bodyPr>
          <a:lstStyle/>
          <a:p>
            <a:pPr algn="l">
              <a:lnSpc>
                <a:spcPts val="4199"/>
              </a:lnSpc>
            </a:pPr>
            <a:r>
              <a:rPr lang="en-US" sz="2999">
                <a:solidFill>
                  <a:srgbClr val="FFFFFF"/>
                </a:solidFill>
                <a:latin typeface="Montserrat"/>
                <a:ea typeface="Montserrat"/>
                <a:cs typeface="Montserrat"/>
                <a:sym typeface="Montserrat"/>
              </a:rPr>
              <a:t>A Dynamic Belief-State Based Anti-Poaching Patrol Planning System that handles uncertain poacher locations using probabilistic reasoning. It combines historical data, camera observations, and ranger feedback to continuously update the belief state and dynamically adjust patrol routes based on distance and patrol constraints. The system enables adaptive decision-making in a partially observable wildlife environment without using machine learning.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1282E"/>
        </a:solidFill>
      </p:bgPr>
    </p:bg>
    <p:spTree>
      <p:nvGrpSpPr>
        <p:cNvPr id="1" name=""/>
        <p:cNvGrpSpPr/>
        <p:nvPr/>
      </p:nvGrpSpPr>
      <p:grpSpPr>
        <a:xfrm>
          <a:off x="0" y="0"/>
          <a:ext cx="0" cy="0"/>
          <a:chOff x="0" y="0"/>
          <a:chExt cx="0" cy="0"/>
        </a:xfrm>
      </p:grpSpPr>
      <p:sp>
        <p:nvSpPr>
          <p:cNvPr name="TextBox 2" id="2"/>
          <p:cNvSpPr txBox="true"/>
          <p:nvPr/>
        </p:nvSpPr>
        <p:spPr>
          <a:xfrm rot="0">
            <a:off x="390958" y="638383"/>
            <a:ext cx="16230600" cy="1590675"/>
          </a:xfrm>
          <a:prstGeom prst="rect">
            <a:avLst/>
          </a:prstGeom>
        </p:spPr>
        <p:txBody>
          <a:bodyPr anchor="t" rtlCol="false" tIns="0" lIns="0" bIns="0" rIns="0">
            <a:spAutoFit/>
          </a:bodyPr>
          <a:lstStyle/>
          <a:p>
            <a:pPr algn="l">
              <a:lnSpc>
                <a:spcPts val="12480"/>
              </a:lnSpc>
            </a:pPr>
            <a:r>
              <a:rPr lang="en-US" sz="10400">
                <a:solidFill>
                  <a:srgbClr val="10C882"/>
                </a:solidFill>
                <a:latin typeface="Alice"/>
                <a:ea typeface="Alice"/>
                <a:cs typeface="Alice"/>
                <a:sym typeface="Alice"/>
              </a:rPr>
              <a:t>The Problem</a:t>
            </a:r>
          </a:p>
        </p:txBody>
      </p:sp>
      <p:sp>
        <p:nvSpPr>
          <p:cNvPr name="Freeform 3" id="3"/>
          <p:cNvSpPr/>
          <p:nvPr/>
        </p:nvSpPr>
        <p:spPr>
          <a:xfrm flipH="true" flipV="false" rot="0">
            <a:off x="10710798" y="5385143"/>
            <a:ext cx="7577202" cy="5124944"/>
          </a:xfrm>
          <a:custGeom>
            <a:avLst/>
            <a:gdLst/>
            <a:ahLst/>
            <a:cxnLst/>
            <a:rect r="r" b="b" t="t" l="l"/>
            <a:pathLst>
              <a:path h="5124944" w="7577202">
                <a:moveTo>
                  <a:pt x="7577202" y="0"/>
                </a:moveTo>
                <a:lnTo>
                  <a:pt x="0" y="0"/>
                </a:lnTo>
                <a:lnTo>
                  <a:pt x="0" y="5124944"/>
                </a:lnTo>
                <a:lnTo>
                  <a:pt x="7577202" y="5124944"/>
                </a:lnTo>
                <a:lnTo>
                  <a:pt x="7577202"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ysDot"/>
            <a:miter/>
          </a:ln>
        </p:spPr>
      </p:sp>
      <p:sp>
        <p:nvSpPr>
          <p:cNvPr name="TextBox 4" id="4"/>
          <p:cNvSpPr txBox="true"/>
          <p:nvPr/>
        </p:nvSpPr>
        <p:spPr>
          <a:xfrm rot="0">
            <a:off x="612781" y="2689083"/>
            <a:ext cx="16230600" cy="6715761"/>
          </a:xfrm>
          <a:prstGeom prst="rect">
            <a:avLst/>
          </a:prstGeom>
        </p:spPr>
        <p:txBody>
          <a:bodyPr anchor="t" rtlCol="false" tIns="0" lIns="0" bIns="0" rIns="0">
            <a:spAutoFit/>
          </a:bodyPr>
          <a:lstStyle/>
          <a:p>
            <a:pPr algn="l">
              <a:lnSpc>
                <a:spcPts val="5279"/>
              </a:lnSpc>
            </a:pPr>
            <a:r>
              <a:rPr lang="en-US" sz="3299">
                <a:solidFill>
                  <a:srgbClr val="FFFFFF"/>
                </a:solidFill>
                <a:latin typeface="Montserrat"/>
                <a:ea typeface="Montserrat"/>
                <a:cs typeface="Montserrat"/>
                <a:sym typeface="Montserrat"/>
              </a:rPr>
              <a:t>Wildlife reserves cannot continuously monitor every area, while poachers actively avoid detection and their exact locations are rarely known. Available information from cameras, ranger observations, historical incidents, and field evidence is often incomplete, noisy, or delayed. Traditional fixed or intuition-based patrols may not adapt effectively to changing situations.</a:t>
            </a:r>
          </a:p>
          <a:p>
            <a:pPr algn="l">
              <a:lnSpc>
                <a:spcPts val="5279"/>
              </a:lnSpc>
            </a:pPr>
            <a:r>
              <a:rPr lang="en-US" sz="3299">
                <a:solidFill>
                  <a:srgbClr val="FFFFFF"/>
                </a:solidFill>
                <a:latin typeface="Montserrat"/>
                <a:ea typeface="Montserrat"/>
                <a:cs typeface="Montserrat"/>
                <a:sym typeface="Montserrat"/>
              </a:rPr>
              <a:t>Therefore, there is a need for a system that can maintain a belief about possible poacher locations, continuously incorporate new information, and dynamically plan or replan patrol routes while considering constraints such as patrol distance and the number of patrols available.</a:t>
            </a:r>
          </a:p>
          <a:p>
            <a:pPr algn="l">
              <a:lnSpc>
                <a:spcPts val="607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1282E"/>
        </a:solidFill>
      </p:bgPr>
    </p:bg>
    <p:spTree>
      <p:nvGrpSpPr>
        <p:cNvPr id="1" name=""/>
        <p:cNvGrpSpPr/>
        <p:nvPr/>
      </p:nvGrpSpPr>
      <p:grpSpPr>
        <a:xfrm>
          <a:off x="0" y="0"/>
          <a:ext cx="0" cy="0"/>
          <a:chOff x="0" y="0"/>
          <a:chExt cx="0" cy="0"/>
        </a:xfrm>
      </p:grpSpPr>
      <p:sp>
        <p:nvSpPr>
          <p:cNvPr name="Freeform 2" id="2"/>
          <p:cNvSpPr/>
          <p:nvPr/>
        </p:nvSpPr>
        <p:spPr>
          <a:xfrm flipH="false" flipV="false" rot="0">
            <a:off x="8894922" y="9258300"/>
            <a:ext cx="10511385" cy="1419037"/>
          </a:xfrm>
          <a:custGeom>
            <a:avLst/>
            <a:gdLst/>
            <a:ahLst/>
            <a:cxnLst/>
            <a:rect r="r" b="b" t="t" l="l"/>
            <a:pathLst>
              <a:path h="1419037" w="10511385">
                <a:moveTo>
                  <a:pt x="0" y="0"/>
                </a:moveTo>
                <a:lnTo>
                  <a:pt x="10511385" y="0"/>
                </a:lnTo>
                <a:lnTo>
                  <a:pt x="10511385" y="1419037"/>
                </a:lnTo>
                <a:lnTo>
                  <a:pt x="0" y="1419037"/>
                </a:lnTo>
                <a:lnTo>
                  <a:pt x="0" y="0"/>
                </a:lnTo>
                <a:close/>
              </a:path>
            </a:pathLst>
          </a:custGeom>
          <a:blipFill>
            <a:blip r:embed="rId2"/>
            <a:stretch>
              <a:fillRect l="0" t="0" r="0" b="0"/>
            </a:stretch>
          </a:blipFill>
        </p:spPr>
      </p:sp>
      <p:sp>
        <p:nvSpPr>
          <p:cNvPr name="Freeform 3" id="3"/>
          <p:cNvSpPr/>
          <p:nvPr/>
        </p:nvSpPr>
        <p:spPr>
          <a:xfrm flipH="true" flipV="false" rot="0">
            <a:off x="11567355" y="0"/>
            <a:ext cx="10909388" cy="10909388"/>
          </a:xfrm>
          <a:custGeom>
            <a:avLst/>
            <a:gdLst/>
            <a:ahLst/>
            <a:cxnLst/>
            <a:rect r="r" b="b" t="t" l="l"/>
            <a:pathLst>
              <a:path h="10909388" w="10909388">
                <a:moveTo>
                  <a:pt x="10909388" y="0"/>
                </a:moveTo>
                <a:lnTo>
                  <a:pt x="0" y="0"/>
                </a:lnTo>
                <a:lnTo>
                  <a:pt x="0" y="10909388"/>
                </a:lnTo>
                <a:lnTo>
                  <a:pt x="10909388" y="10909388"/>
                </a:lnTo>
                <a:lnTo>
                  <a:pt x="109093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16462" y="9258300"/>
            <a:ext cx="10511385" cy="1419037"/>
          </a:xfrm>
          <a:custGeom>
            <a:avLst/>
            <a:gdLst/>
            <a:ahLst/>
            <a:cxnLst/>
            <a:rect r="r" b="b" t="t" l="l"/>
            <a:pathLst>
              <a:path h="1419037" w="10511385">
                <a:moveTo>
                  <a:pt x="0" y="0"/>
                </a:moveTo>
                <a:lnTo>
                  <a:pt x="10511384" y="0"/>
                </a:lnTo>
                <a:lnTo>
                  <a:pt x="10511384" y="1419037"/>
                </a:lnTo>
                <a:lnTo>
                  <a:pt x="0" y="1419037"/>
                </a:lnTo>
                <a:lnTo>
                  <a:pt x="0" y="0"/>
                </a:lnTo>
                <a:close/>
              </a:path>
            </a:pathLst>
          </a:custGeom>
          <a:blipFill>
            <a:blip r:embed="rId2"/>
            <a:stretch>
              <a:fillRect l="0" t="0" r="0" b="0"/>
            </a:stretch>
          </a:blipFill>
        </p:spPr>
      </p:sp>
      <p:grpSp>
        <p:nvGrpSpPr>
          <p:cNvPr name="Group 5" id="5"/>
          <p:cNvGrpSpPr/>
          <p:nvPr/>
        </p:nvGrpSpPr>
        <p:grpSpPr>
          <a:xfrm rot="0">
            <a:off x="1028700" y="6207169"/>
            <a:ext cx="16230600" cy="3365011"/>
            <a:chOff x="0" y="0"/>
            <a:chExt cx="4274726" cy="886258"/>
          </a:xfrm>
        </p:grpSpPr>
        <p:sp>
          <p:nvSpPr>
            <p:cNvPr name="Freeform 6" id="6"/>
            <p:cNvSpPr/>
            <p:nvPr/>
          </p:nvSpPr>
          <p:spPr>
            <a:xfrm flipH="false" flipV="false" rot="0">
              <a:off x="0" y="0"/>
              <a:ext cx="4274726" cy="886258"/>
            </a:xfrm>
            <a:custGeom>
              <a:avLst/>
              <a:gdLst/>
              <a:ahLst/>
              <a:cxnLst/>
              <a:rect r="r" b="b" t="t" l="l"/>
              <a:pathLst>
                <a:path h="886258" w="4274726">
                  <a:moveTo>
                    <a:pt x="12879" y="0"/>
                  </a:moveTo>
                  <a:lnTo>
                    <a:pt x="4261847" y="0"/>
                  </a:lnTo>
                  <a:cubicBezTo>
                    <a:pt x="4268960" y="0"/>
                    <a:pt x="4274726" y="5766"/>
                    <a:pt x="4274726" y="12879"/>
                  </a:cubicBezTo>
                  <a:lnTo>
                    <a:pt x="4274726" y="873379"/>
                  </a:lnTo>
                  <a:cubicBezTo>
                    <a:pt x="4274726" y="880492"/>
                    <a:pt x="4268960" y="886258"/>
                    <a:pt x="4261847" y="886258"/>
                  </a:cubicBezTo>
                  <a:lnTo>
                    <a:pt x="12879" y="886258"/>
                  </a:lnTo>
                  <a:cubicBezTo>
                    <a:pt x="5766" y="886258"/>
                    <a:pt x="0" y="880492"/>
                    <a:pt x="0" y="873379"/>
                  </a:cubicBezTo>
                  <a:lnTo>
                    <a:pt x="0" y="12879"/>
                  </a:lnTo>
                  <a:cubicBezTo>
                    <a:pt x="0" y="5766"/>
                    <a:pt x="5766" y="0"/>
                    <a:pt x="12879" y="0"/>
                  </a:cubicBezTo>
                  <a:close/>
                </a:path>
              </a:pathLst>
            </a:custGeom>
            <a:solidFill>
              <a:srgbClr val="21282E"/>
            </a:solidFill>
            <a:ln w="38100" cap="rnd">
              <a:solidFill>
                <a:srgbClr val="FFA205"/>
              </a:solidFill>
              <a:prstDash val="solid"/>
              <a:round/>
            </a:ln>
          </p:spPr>
        </p:sp>
        <p:sp>
          <p:nvSpPr>
            <p:cNvPr name="TextBox 7" id="7"/>
            <p:cNvSpPr txBox="true"/>
            <p:nvPr/>
          </p:nvSpPr>
          <p:spPr>
            <a:xfrm>
              <a:off x="0" y="9525"/>
              <a:ext cx="4274726" cy="876733"/>
            </a:xfrm>
            <a:prstGeom prst="rect">
              <a:avLst/>
            </a:prstGeom>
          </p:spPr>
          <p:txBody>
            <a:bodyPr anchor="ctr" rtlCol="false" tIns="50800" lIns="50800" bIns="50800" rIns="50800"/>
            <a:lstStyle/>
            <a:p>
              <a:pPr algn="ctr">
                <a:lnSpc>
                  <a:spcPts val="2879"/>
                </a:lnSpc>
              </a:pPr>
            </a:p>
          </p:txBody>
        </p:sp>
      </p:grpSp>
      <p:grpSp>
        <p:nvGrpSpPr>
          <p:cNvPr name="Group 8" id="8"/>
          <p:cNvGrpSpPr/>
          <p:nvPr/>
        </p:nvGrpSpPr>
        <p:grpSpPr>
          <a:xfrm rot="0">
            <a:off x="1028700" y="2089683"/>
            <a:ext cx="16230600" cy="3365011"/>
            <a:chOff x="0" y="0"/>
            <a:chExt cx="4274726" cy="886258"/>
          </a:xfrm>
        </p:grpSpPr>
        <p:sp>
          <p:nvSpPr>
            <p:cNvPr name="Freeform 9" id="9"/>
            <p:cNvSpPr/>
            <p:nvPr/>
          </p:nvSpPr>
          <p:spPr>
            <a:xfrm flipH="false" flipV="false" rot="0">
              <a:off x="0" y="0"/>
              <a:ext cx="4274726" cy="886258"/>
            </a:xfrm>
            <a:custGeom>
              <a:avLst/>
              <a:gdLst/>
              <a:ahLst/>
              <a:cxnLst/>
              <a:rect r="r" b="b" t="t" l="l"/>
              <a:pathLst>
                <a:path h="886258" w="4274726">
                  <a:moveTo>
                    <a:pt x="12879" y="0"/>
                  </a:moveTo>
                  <a:lnTo>
                    <a:pt x="4261847" y="0"/>
                  </a:lnTo>
                  <a:cubicBezTo>
                    <a:pt x="4268960" y="0"/>
                    <a:pt x="4274726" y="5766"/>
                    <a:pt x="4274726" y="12879"/>
                  </a:cubicBezTo>
                  <a:lnTo>
                    <a:pt x="4274726" y="873379"/>
                  </a:lnTo>
                  <a:cubicBezTo>
                    <a:pt x="4274726" y="880492"/>
                    <a:pt x="4268960" y="886258"/>
                    <a:pt x="4261847" y="886258"/>
                  </a:cubicBezTo>
                  <a:lnTo>
                    <a:pt x="12879" y="886258"/>
                  </a:lnTo>
                  <a:cubicBezTo>
                    <a:pt x="5766" y="886258"/>
                    <a:pt x="0" y="880492"/>
                    <a:pt x="0" y="873379"/>
                  </a:cubicBezTo>
                  <a:lnTo>
                    <a:pt x="0" y="12879"/>
                  </a:lnTo>
                  <a:cubicBezTo>
                    <a:pt x="0" y="5766"/>
                    <a:pt x="5766" y="0"/>
                    <a:pt x="12879" y="0"/>
                  </a:cubicBezTo>
                  <a:close/>
                </a:path>
              </a:pathLst>
            </a:custGeom>
            <a:solidFill>
              <a:srgbClr val="21282E"/>
            </a:solidFill>
            <a:ln w="38100" cap="rnd">
              <a:solidFill>
                <a:srgbClr val="FFA205"/>
              </a:solidFill>
              <a:prstDash val="solid"/>
              <a:round/>
            </a:ln>
          </p:spPr>
        </p:sp>
        <p:sp>
          <p:nvSpPr>
            <p:cNvPr name="TextBox 10" id="10"/>
            <p:cNvSpPr txBox="true"/>
            <p:nvPr/>
          </p:nvSpPr>
          <p:spPr>
            <a:xfrm>
              <a:off x="0" y="9525"/>
              <a:ext cx="4274726" cy="876733"/>
            </a:xfrm>
            <a:prstGeom prst="rect">
              <a:avLst/>
            </a:prstGeom>
          </p:spPr>
          <p:txBody>
            <a:bodyPr anchor="ctr" rtlCol="false" tIns="50800" lIns="50800" bIns="50800" rIns="50800"/>
            <a:lstStyle/>
            <a:p>
              <a:pPr algn="ctr">
                <a:lnSpc>
                  <a:spcPts val="2879"/>
                </a:lnSpc>
              </a:pPr>
            </a:p>
          </p:txBody>
        </p:sp>
      </p:grpSp>
      <p:sp>
        <p:nvSpPr>
          <p:cNvPr name="TextBox 11" id="11"/>
          <p:cNvSpPr txBox="true"/>
          <p:nvPr/>
        </p:nvSpPr>
        <p:spPr>
          <a:xfrm rot="0">
            <a:off x="1028700" y="293399"/>
            <a:ext cx="11041660" cy="1295400"/>
          </a:xfrm>
          <a:prstGeom prst="rect">
            <a:avLst/>
          </a:prstGeom>
        </p:spPr>
        <p:txBody>
          <a:bodyPr anchor="t" rtlCol="false" tIns="0" lIns="0" bIns="0" rIns="0">
            <a:spAutoFit/>
          </a:bodyPr>
          <a:lstStyle/>
          <a:p>
            <a:pPr algn="l">
              <a:lnSpc>
                <a:spcPts val="10199"/>
              </a:lnSpc>
            </a:pPr>
            <a:r>
              <a:rPr lang="en-US" sz="8499">
                <a:solidFill>
                  <a:srgbClr val="10C882"/>
                </a:solidFill>
                <a:latin typeface="Alice"/>
                <a:ea typeface="Alice"/>
                <a:cs typeface="Alice"/>
                <a:sym typeface="Alice"/>
              </a:rPr>
              <a:t>Literature Survey</a:t>
            </a:r>
          </a:p>
        </p:txBody>
      </p:sp>
      <p:sp>
        <p:nvSpPr>
          <p:cNvPr name="TextBox 12" id="12"/>
          <p:cNvSpPr txBox="true"/>
          <p:nvPr/>
        </p:nvSpPr>
        <p:spPr>
          <a:xfrm rot="0">
            <a:off x="1754013" y="6515082"/>
            <a:ext cx="14779974" cy="409575"/>
          </a:xfrm>
          <a:prstGeom prst="rect">
            <a:avLst/>
          </a:prstGeom>
        </p:spPr>
        <p:txBody>
          <a:bodyPr anchor="t" rtlCol="false" tIns="0" lIns="0" bIns="0" rIns="0">
            <a:spAutoFit/>
          </a:bodyPr>
          <a:lstStyle/>
          <a:p>
            <a:pPr algn="l">
              <a:lnSpc>
                <a:spcPts val="3359"/>
              </a:lnSpc>
            </a:pPr>
            <a:r>
              <a:rPr lang="en-US" sz="2799" b="true">
                <a:solidFill>
                  <a:srgbClr val="FFA205"/>
                </a:solidFill>
                <a:latin typeface="Montserrat Bold"/>
                <a:ea typeface="Montserrat Bold"/>
                <a:cs typeface="Montserrat Bold"/>
                <a:sym typeface="Montserrat Bold"/>
              </a:rPr>
              <a:t>Belief-Based Search Under Uncertainty</a:t>
            </a:r>
          </a:p>
        </p:txBody>
      </p:sp>
      <p:sp>
        <p:nvSpPr>
          <p:cNvPr name="TextBox 13" id="13"/>
          <p:cNvSpPr txBox="true"/>
          <p:nvPr/>
        </p:nvSpPr>
        <p:spPr>
          <a:xfrm rot="0">
            <a:off x="1754013" y="7179182"/>
            <a:ext cx="14779974" cy="2129155"/>
          </a:xfrm>
          <a:prstGeom prst="rect">
            <a:avLst/>
          </a:prstGeom>
        </p:spPr>
        <p:txBody>
          <a:bodyPr anchor="t" rtlCol="false" tIns="0" lIns="0" bIns="0" rIns="0">
            <a:spAutoFit/>
          </a:bodyPr>
          <a:lstStyle/>
          <a:p>
            <a:pPr algn="just">
              <a:lnSpc>
                <a:spcPts val="3379"/>
              </a:lnSpc>
            </a:pPr>
            <a:r>
              <a:rPr lang="en-US" sz="2599">
                <a:solidFill>
                  <a:srgbClr val="FFFFFF"/>
                </a:solidFill>
                <a:latin typeface="Montserrat"/>
                <a:ea typeface="Montserrat"/>
                <a:cs typeface="Montserrat"/>
                <a:sym typeface="Montserrat"/>
              </a:rPr>
              <a:t>Bayesian search keeps a belief map that is propagated with a target motion model (prediction) and then refined with sensor observations (update). POMDPs formalise this, with the belief state summarising the full observation history without loss of optimality, but exact POMDP solving is PSPACE-hard, so lightweight belief-based methods are attractive.</a:t>
            </a:r>
          </a:p>
        </p:txBody>
      </p:sp>
      <p:sp>
        <p:nvSpPr>
          <p:cNvPr name="TextBox 14" id="14"/>
          <p:cNvSpPr txBox="true"/>
          <p:nvPr/>
        </p:nvSpPr>
        <p:spPr>
          <a:xfrm rot="0">
            <a:off x="1754013" y="2314443"/>
            <a:ext cx="14779974" cy="1247775"/>
          </a:xfrm>
          <a:prstGeom prst="rect">
            <a:avLst/>
          </a:prstGeom>
        </p:spPr>
        <p:txBody>
          <a:bodyPr anchor="t" rtlCol="false" tIns="0" lIns="0" bIns="0" rIns="0">
            <a:spAutoFit/>
          </a:bodyPr>
          <a:lstStyle/>
          <a:p>
            <a:pPr algn="l">
              <a:lnSpc>
                <a:spcPts val="3359"/>
              </a:lnSpc>
            </a:pPr>
            <a:r>
              <a:rPr lang="en-US" sz="2799" b="true">
                <a:solidFill>
                  <a:srgbClr val="FFA205"/>
                </a:solidFill>
                <a:latin typeface="Montserrat Bold"/>
                <a:ea typeface="Montserrat Bold"/>
                <a:cs typeface="Montserrat Bold"/>
                <a:sym typeface="Montserrat Bold"/>
              </a:rPr>
              <a:t>Game-Theoretic and Data-Driven Patrol Planning</a:t>
            </a:r>
          </a:p>
          <a:p>
            <a:pPr algn="l">
              <a:lnSpc>
                <a:spcPts val="3359"/>
              </a:lnSpc>
            </a:pPr>
          </a:p>
          <a:p>
            <a:pPr algn="l">
              <a:lnSpc>
                <a:spcPts val="3359"/>
              </a:lnSpc>
            </a:pPr>
          </a:p>
        </p:txBody>
      </p:sp>
      <p:sp>
        <p:nvSpPr>
          <p:cNvPr name="TextBox 15" id="15"/>
          <p:cNvSpPr txBox="true"/>
          <p:nvPr/>
        </p:nvSpPr>
        <p:spPr>
          <a:xfrm rot="0">
            <a:off x="1754013" y="3014345"/>
            <a:ext cx="14779974" cy="2129155"/>
          </a:xfrm>
          <a:prstGeom prst="rect">
            <a:avLst/>
          </a:prstGeom>
        </p:spPr>
        <p:txBody>
          <a:bodyPr anchor="t" rtlCol="false" tIns="0" lIns="0" bIns="0" rIns="0">
            <a:spAutoFit/>
          </a:bodyPr>
          <a:lstStyle/>
          <a:p>
            <a:pPr algn="just">
              <a:lnSpc>
                <a:spcPts val="3380"/>
              </a:lnSpc>
            </a:pPr>
            <a:r>
              <a:rPr lang="en-US" sz="2600">
                <a:solidFill>
                  <a:srgbClr val="FFFFFF"/>
                </a:solidFill>
                <a:latin typeface="Montserrat"/>
                <a:ea typeface="Montserrat"/>
                <a:cs typeface="Montserrat"/>
                <a:sym typeface="Montserrat"/>
              </a:rPr>
              <a:t>PAWS uses security games to generate efficient, randomized patrol schedules (Fang et al., 2016), later adding ML models of poacher behaviour. Xu et al. (2020) used Gaussian processes to quantify prediction uncertainty, raising snare detection by about 30%. Wang et al. (2019) added real-time information such as footprints and used deep reinforcement learning to adapt patrols to it.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1282E"/>
        </a:solidFill>
      </p:bgPr>
    </p:bg>
    <p:spTree>
      <p:nvGrpSpPr>
        <p:cNvPr id="1" name=""/>
        <p:cNvGrpSpPr/>
        <p:nvPr/>
      </p:nvGrpSpPr>
      <p:grpSpPr>
        <a:xfrm>
          <a:off x="0" y="0"/>
          <a:ext cx="0" cy="0"/>
          <a:chOff x="0" y="0"/>
          <a:chExt cx="0" cy="0"/>
        </a:xfrm>
      </p:grpSpPr>
      <p:sp>
        <p:nvSpPr>
          <p:cNvPr name="Freeform 2" id="2"/>
          <p:cNvSpPr/>
          <p:nvPr/>
        </p:nvSpPr>
        <p:spPr>
          <a:xfrm flipH="true" flipV="false" rot="0">
            <a:off x="321817" y="2987494"/>
            <a:ext cx="5148953" cy="7299506"/>
          </a:xfrm>
          <a:custGeom>
            <a:avLst/>
            <a:gdLst/>
            <a:ahLst/>
            <a:cxnLst/>
            <a:rect r="r" b="b" t="t" l="l"/>
            <a:pathLst>
              <a:path h="7299506" w="5148953">
                <a:moveTo>
                  <a:pt x="5148952" y="0"/>
                </a:moveTo>
                <a:lnTo>
                  <a:pt x="0" y="0"/>
                </a:lnTo>
                <a:lnTo>
                  <a:pt x="0" y="7299506"/>
                </a:lnTo>
                <a:lnTo>
                  <a:pt x="5148952" y="7299506"/>
                </a:lnTo>
                <a:lnTo>
                  <a:pt x="5148952" y="0"/>
                </a:lnTo>
                <a:close/>
              </a:path>
            </a:pathLst>
          </a:custGeom>
          <a:blipFill>
            <a:blip r:embed="rId2">
              <a:extLst>
                <a:ext uri="{96DAC541-7B7A-43D3-8B79-37D633B846F1}">
                  <asvg:svgBlip xmlns:asvg="http://schemas.microsoft.com/office/drawing/2016/SVG/main" r:embed="rId3"/>
                </a:ext>
              </a:extLst>
            </a:blip>
            <a:stretch>
              <a:fillRect l="0" t="-2645" r="-11485" b="-65155"/>
            </a:stretch>
          </a:blipFill>
        </p:spPr>
      </p:sp>
      <p:sp>
        <p:nvSpPr>
          <p:cNvPr name="TextBox 3" id="3"/>
          <p:cNvSpPr txBox="true"/>
          <p:nvPr/>
        </p:nvSpPr>
        <p:spPr>
          <a:xfrm rot="0">
            <a:off x="1028700" y="425032"/>
            <a:ext cx="9579481" cy="1181101"/>
          </a:xfrm>
          <a:prstGeom prst="rect">
            <a:avLst/>
          </a:prstGeom>
        </p:spPr>
        <p:txBody>
          <a:bodyPr anchor="t" rtlCol="false" tIns="0" lIns="0" bIns="0" rIns="0">
            <a:spAutoFit/>
          </a:bodyPr>
          <a:lstStyle/>
          <a:p>
            <a:pPr algn="l">
              <a:lnSpc>
                <a:spcPts val="8550"/>
              </a:lnSpc>
            </a:pPr>
            <a:r>
              <a:rPr lang="en-US" sz="9500">
                <a:solidFill>
                  <a:srgbClr val="10C882"/>
                </a:solidFill>
                <a:latin typeface="Alice"/>
                <a:ea typeface="Alice"/>
                <a:cs typeface="Alice"/>
                <a:sym typeface="Alice"/>
              </a:rPr>
              <a:t>Research Gap</a:t>
            </a:r>
          </a:p>
        </p:txBody>
      </p:sp>
      <p:sp>
        <p:nvSpPr>
          <p:cNvPr name="TextBox 4" id="4"/>
          <p:cNvSpPr txBox="true"/>
          <p:nvPr/>
        </p:nvSpPr>
        <p:spPr>
          <a:xfrm rot="0">
            <a:off x="1028700" y="2453209"/>
            <a:ext cx="16230600" cy="6743700"/>
          </a:xfrm>
          <a:prstGeom prst="rect">
            <a:avLst/>
          </a:prstGeom>
        </p:spPr>
        <p:txBody>
          <a:bodyPr anchor="t" rtlCol="false" tIns="0" lIns="0" bIns="0" rIns="0">
            <a:spAutoFit/>
          </a:bodyPr>
          <a:lstStyle/>
          <a:p>
            <a:pPr algn="just" marL="647700" indent="-323850" lvl="1">
              <a:lnSpc>
                <a:spcPts val="3600"/>
              </a:lnSpc>
              <a:buFont typeface="Arial"/>
              <a:buChar char="•"/>
            </a:pPr>
            <a:r>
              <a:rPr lang="en-US" sz="3000">
                <a:solidFill>
                  <a:srgbClr val="FFFFFF"/>
                </a:solidFill>
                <a:latin typeface="Montserrat"/>
                <a:ea typeface="Montserrat"/>
                <a:cs typeface="Montserrat"/>
                <a:sym typeface="Montserrat"/>
              </a:rPr>
              <a:t>Existing anti-poaching planners rely on ML or deep RL, which needs large, biased and imbalanced historical datasets. Their behaviour is also hard to interpret for rangers.</a:t>
            </a:r>
          </a:p>
          <a:p>
            <a:pPr algn="just" marL="647700" indent="-323850" lvl="1">
              <a:lnSpc>
                <a:spcPts val="4500"/>
              </a:lnSpc>
              <a:buFont typeface="Arial"/>
              <a:buChar char="•"/>
            </a:pPr>
            <a:r>
              <a:rPr lang="en-US" sz="3000">
                <a:solidFill>
                  <a:srgbClr val="FFFFFF"/>
                </a:solidFill>
                <a:latin typeface="Montserrat"/>
                <a:ea typeface="Montserrat"/>
                <a:cs typeface="Montserrat"/>
                <a:sym typeface="Montserrat"/>
              </a:rPr>
              <a:t>Many prescribed patrols are not adaptive. Earlier plans were not adjusted to observations made during the patrol, even though camera-trap and ranger information arrives in real time. </a:t>
            </a:r>
          </a:p>
          <a:p>
            <a:pPr algn="just" marL="647700" indent="-323850" lvl="1">
              <a:lnSpc>
                <a:spcPts val="3600"/>
              </a:lnSpc>
              <a:buFont typeface="Arial"/>
              <a:buChar char="•"/>
            </a:pPr>
            <a:r>
              <a:rPr lang="en-US" sz="3000">
                <a:solidFill>
                  <a:srgbClr val="FFFFFF"/>
                </a:solidFill>
                <a:latin typeface="Montserrat"/>
                <a:ea typeface="Montserrat"/>
                <a:cs typeface="Montserrat"/>
                <a:sym typeface="Montserrat"/>
              </a:rPr>
              <a:t>Bayesian search and POMDP work is largely domain-agnostic (UAV and robot search). It rarely combines historical priors, camera detections and ranger feedback in one belief update, or ties replanning to distance and patrol-length constraints.</a:t>
            </a:r>
          </a:p>
          <a:p>
            <a:pPr algn="just" marL="647700" indent="-323850" lvl="1">
              <a:lnSpc>
                <a:spcPts val="3600"/>
              </a:lnSpc>
              <a:buFont typeface="Arial"/>
              <a:buChar char="•"/>
            </a:pPr>
            <a:r>
              <a:rPr lang="en-US" sz="3000">
                <a:solidFill>
                  <a:srgbClr val="FFFFFF"/>
                </a:solidFill>
                <a:latin typeface="Montserrat"/>
                <a:ea typeface="Montserrat"/>
                <a:cs typeface="Montserrat"/>
                <a:sym typeface="Montserrat"/>
              </a:rPr>
              <a:t>Our contribution: an interpretable, ML-free belief-state framework that fuses these three evidence sources and replans patrol routes under practical constraints.</a:t>
            </a:r>
          </a:p>
          <a:p>
            <a:pPr algn="just">
              <a:lnSpc>
                <a:spcPts val="360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055" r="0" b="-3055"/>
            </a:stretch>
          </a:blipFill>
        </p:spPr>
      </p:sp>
      <p:sp>
        <p:nvSpPr>
          <p:cNvPr name="Freeform 3" id="3"/>
          <p:cNvSpPr/>
          <p:nvPr/>
        </p:nvSpPr>
        <p:spPr>
          <a:xfrm flipH="false" flipV="false" rot="0">
            <a:off x="-1616462" y="9258300"/>
            <a:ext cx="10511385" cy="1419037"/>
          </a:xfrm>
          <a:custGeom>
            <a:avLst/>
            <a:gdLst/>
            <a:ahLst/>
            <a:cxnLst/>
            <a:rect r="r" b="b" t="t" l="l"/>
            <a:pathLst>
              <a:path h="1419037" w="10511385">
                <a:moveTo>
                  <a:pt x="0" y="0"/>
                </a:moveTo>
                <a:lnTo>
                  <a:pt x="10511384" y="0"/>
                </a:lnTo>
                <a:lnTo>
                  <a:pt x="10511384" y="1419037"/>
                </a:lnTo>
                <a:lnTo>
                  <a:pt x="0" y="1419037"/>
                </a:lnTo>
                <a:lnTo>
                  <a:pt x="0" y="0"/>
                </a:lnTo>
                <a:close/>
              </a:path>
            </a:pathLst>
          </a:custGeom>
          <a:blipFill>
            <a:blip r:embed="rId3"/>
            <a:stretch>
              <a:fillRect l="0" t="0" r="0" b="0"/>
            </a:stretch>
          </a:blipFill>
        </p:spPr>
      </p:sp>
      <p:sp>
        <p:nvSpPr>
          <p:cNvPr name="Freeform 4" id="4"/>
          <p:cNvSpPr/>
          <p:nvPr/>
        </p:nvSpPr>
        <p:spPr>
          <a:xfrm flipH="false" flipV="false" rot="0">
            <a:off x="8894922" y="9258300"/>
            <a:ext cx="10511385" cy="1419037"/>
          </a:xfrm>
          <a:custGeom>
            <a:avLst/>
            <a:gdLst/>
            <a:ahLst/>
            <a:cxnLst/>
            <a:rect r="r" b="b" t="t" l="l"/>
            <a:pathLst>
              <a:path h="1419037" w="10511385">
                <a:moveTo>
                  <a:pt x="0" y="0"/>
                </a:moveTo>
                <a:lnTo>
                  <a:pt x="10511385" y="0"/>
                </a:lnTo>
                <a:lnTo>
                  <a:pt x="10511385" y="1419037"/>
                </a:lnTo>
                <a:lnTo>
                  <a:pt x="0" y="1419037"/>
                </a:lnTo>
                <a:lnTo>
                  <a:pt x="0" y="0"/>
                </a:lnTo>
                <a:close/>
              </a:path>
            </a:pathLst>
          </a:custGeom>
          <a:blipFill>
            <a:blip r:embed="rId3"/>
            <a:stretch>
              <a:fillRect l="0" t="0" r="0" b="0"/>
            </a:stretch>
          </a:blipFill>
        </p:spPr>
      </p:sp>
      <p:sp>
        <p:nvSpPr>
          <p:cNvPr name="Freeform 5" id="5"/>
          <p:cNvSpPr/>
          <p:nvPr/>
        </p:nvSpPr>
        <p:spPr>
          <a:xfrm flipH="false" flipV="false" rot="0">
            <a:off x="0" y="-4396526"/>
            <a:ext cx="8894922" cy="5961640"/>
          </a:xfrm>
          <a:custGeom>
            <a:avLst/>
            <a:gdLst/>
            <a:ahLst/>
            <a:cxnLst/>
            <a:rect r="r" b="b" t="t" l="l"/>
            <a:pathLst>
              <a:path h="5961640" w="8894922">
                <a:moveTo>
                  <a:pt x="0" y="0"/>
                </a:moveTo>
                <a:lnTo>
                  <a:pt x="8894922" y="0"/>
                </a:lnTo>
                <a:lnTo>
                  <a:pt x="8894922" y="5961640"/>
                </a:lnTo>
                <a:lnTo>
                  <a:pt x="0" y="59616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9393078" y="-4042447"/>
            <a:ext cx="8894922" cy="5961640"/>
          </a:xfrm>
          <a:custGeom>
            <a:avLst/>
            <a:gdLst/>
            <a:ahLst/>
            <a:cxnLst/>
            <a:rect r="r" b="b" t="t" l="l"/>
            <a:pathLst>
              <a:path h="5961640" w="8894922">
                <a:moveTo>
                  <a:pt x="0" y="0"/>
                </a:moveTo>
                <a:lnTo>
                  <a:pt x="8894922" y="0"/>
                </a:lnTo>
                <a:lnTo>
                  <a:pt x="8894922" y="5961640"/>
                </a:lnTo>
                <a:lnTo>
                  <a:pt x="0" y="59616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4447461" y="169769"/>
            <a:ext cx="8756370" cy="1152525"/>
          </a:xfrm>
          <a:prstGeom prst="rect">
            <a:avLst/>
          </a:prstGeom>
        </p:spPr>
        <p:txBody>
          <a:bodyPr anchor="t" rtlCol="false" tIns="0" lIns="0" bIns="0" rIns="0">
            <a:spAutoFit/>
          </a:bodyPr>
          <a:lstStyle/>
          <a:p>
            <a:pPr algn="l">
              <a:lnSpc>
                <a:spcPts val="9000"/>
              </a:lnSpc>
              <a:spcBef>
                <a:spcPct val="0"/>
              </a:spcBef>
            </a:pPr>
            <a:r>
              <a:rPr lang="en-US" sz="7500">
                <a:solidFill>
                  <a:srgbClr val="10C882"/>
                </a:solidFill>
                <a:latin typeface="Alice"/>
                <a:ea typeface="Alice"/>
                <a:cs typeface="Alice"/>
                <a:sym typeface="Alice"/>
              </a:rPr>
              <a:t>System Architecture</a:t>
            </a:r>
          </a:p>
        </p:txBody>
      </p:sp>
      <p:sp>
        <p:nvSpPr>
          <p:cNvPr name="TextBox 8" id="8"/>
          <p:cNvSpPr txBox="true"/>
          <p:nvPr/>
        </p:nvSpPr>
        <p:spPr>
          <a:xfrm rot="0">
            <a:off x="1278841" y="1909668"/>
            <a:ext cx="2722067" cy="847725"/>
          </a:xfrm>
          <a:prstGeom prst="rect">
            <a:avLst/>
          </a:prstGeom>
        </p:spPr>
        <p:txBody>
          <a:bodyPr anchor="t" rtlCol="false" tIns="0" lIns="0" bIns="0" rIns="0">
            <a:spAutoFit/>
          </a:bodyPr>
          <a:lstStyle/>
          <a:p>
            <a:pPr algn="just">
              <a:lnSpc>
                <a:spcPts val="3300"/>
              </a:lnSpc>
              <a:spcBef>
                <a:spcPct val="0"/>
              </a:spcBef>
            </a:pPr>
            <a:r>
              <a:rPr lang="en-US" sz="2750">
                <a:solidFill>
                  <a:srgbClr val="10C882"/>
                </a:solidFill>
                <a:latin typeface="Montserrat"/>
                <a:ea typeface="Montserrat"/>
                <a:cs typeface="Montserrat"/>
                <a:sym typeface="Montserrat"/>
              </a:rPr>
              <a:t>Camera Observations</a:t>
            </a:r>
          </a:p>
        </p:txBody>
      </p:sp>
      <p:sp>
        <p:nvSpPr>
          <p:cNvPr name="TextBox 9" id="9"/>
          <p:cNvSpPr txBox="true"/>
          <p:nvPr/>
        </p:nvSpPr>
        <p:spPr>
          <a:xfrm rot="0">
            <a:off x="1539303" y="3505163"/>
            <a:ext cx="1495127" cy="828675"/>
          </a:xfrm>
          <a:prstGeom prst="rect">
            <a:avLst/>
          </a:prstGeom>
        </p:spPr>
        <p:txBody>
          <a:bodyPr anchor="t" rtlCol="false" tIns="0" lIns="0" bIns="0" rIns="0">
            <a:spAutoFit/>
          </a:bodyPr>
          <a:lstStyle/>
          <a:p>
            <a:pPr algn="ctr">
              <a:lnSpc>
                <a:spcPts val="3359"/>
              </a:lnSpc>
            </a:pPr>
            <a:r>
              <a:rPr lang="en-US" sz="2799">
                <a:solidFill>
                  <a:srgbClr val="10C882"/>
                </a:solidFill>
                <a:latin typeface="Montserrat"/>
                <a:ea typeface="Montserrat"/>
                <a:cs typeface="Montserrat"/>
                <a:sym typeface="Montserrat"/>
              </a:rPr>
              <a:t>Ranger</a:t>
            </a:r>
          </a:p>
          <a:p>
            <a:pPr algn="ctr">
              <a:lnSpc>
                <a:spcPts val="3359"/>
              </a:lnSpc>
              <a:spcBef>
                <a:spcPct val="0"/>
              </a:spcBef>
            </a:pPr>
            <a:r>
              <a:rPr lang="en-US" sz="2799">
                <a:solidFill>
                  <a:srgbClr val="10C882"/>
                </a:solidFill>
                <a:latin typeface="Montserrat"/>
                <a:ea typeface="Montserrat"/>
                <a:cs typeface="Montserrat"/>
                <a:sym typeface="Montserrat"/>
              </a:rPr>
              <a:t> Reports</a:t>
            </a:r>
          </a:p>
        </p:txBody>
      </p:sp>
      <p:sp>
        <p:nvSpPr>
          <p:cNvPr name="TextBox 10" id="10"/>
          <p:cNvSpPr txBox="true"/>
          <p:nvPr/>
        </p:nvSpPr>
        <p:spPr>
          <a:xfrm rot="0">
            <a:off x="1539303" y="5002132"/>
            <a:ext cx="1660029" cy="828675"/>
          </a:xfrm>
          <a:prstGeom prst="rect">
            <a:avLst/>
          </a:prstGeom>
        </p:spPr>
        <p:txBody>
          <a:bodyPr anchor="t" rtlCol="false" tIns="0" lIns="0" bIns="0" rIns="0">
            <a:spAutoFit/>
          </a:bodyPr>
          <a:lstStyle/>
          <a:p>
            <a:pPr algn="ctr">
              <a:lnSpc>
                <a:spcPts val="3359"/>
              </a:lnSpc>
            </a:pPr>
            <a:r>
              <a:rPr lang="en-US" sz="2799">
                <a:solidFill>
                  <a:srgbClr val="10C882"/>
                </a:solidFill>
                <a:latin typeface="Montserrat"/>
                <a:ea typeface="Montserrat"/>
                <a:cs typeface="Montserrat"/>
                <a:sym typeface="Montserrat"/>
              </a:rPr>
              <a:t>Historical</a:t>
            </a:r>
          </a:p>
          <a:p>
            <a:pPr algn="ctr">
              <a:lnSpc>
                <a:spcPts val="3359"/>
              </a:lnSpc>
              <a:spcBef>
                <a:spcPct val="0"/>
              </a:spcBef>
            </a:pPr>
            <a:r>
              <a:rPr lang="en-US" sz="2799">
                <a:solidFill>
                  <a:srgbClr val="10C882"/>
                </a:solidFill>
                <a:latin typeface="Montserrat"/>
                <a:ea typeface="Montserrat"/>
                <a:cs typeface="Montserrat"/>
                <a:sym typeface="Montserrat"/>
              </a:rPr>
              <a:t> Data</a:t>
            </a:r>
          </a:p>
        </p:txBody>
      </p:sp>
      <p:sp>
        <p:nvSpPr>
          <p:cNvPr name="TextBox 11" id="11"/>
          <p:cNvSpPr txBox="true"/>
          <p:nvPr/>
        </p:nvSpPr>
        <p:spPr>
          <a:xfrm rot="0">
            <a:off x="1539303" y="6497557"/>
            <a:ext cx="1660029" cy="828675"/>
          </a:xfrm>
          <a:prstGeom prst="rect">
            <a:avLst/>
          </a:prstGeom>
        </p:spPr>
        <p:txBody>
          <a:bodyPr anchor="t" rtlCol="false" tIns="0" lIns="0" bIns="0" rIns="0">
            <a:spAutoFit/>
          </a:bodyPr>
          <a:lstStyle/>
          <a:p>
            <a:pPr algn="ctr">
              <a:lnSpc>
                <a:spcPts val="3359"/>
              </a:lnSpc>
              <a:spcBef>
                <a:spcPct val="0"/>
              </a:spcBef>
            </a:pPr>
            <a:r>
              <a:rPr lang="en-US" sz="2799">
                <a:solidFill>
                  <a:srgbClr val="10C882"/>
                </a:solidFill>
                <a:latin typeface="Montserrat"/>
                <a:ea typeface="Montserrat"/>
                <a:cs typeface="Montserrat"/>
                <a:sym typeface="Montserrat"/>
              </a:rPr>
              <a:t>Field Evidence</a:t>
            </a:r>
          </a:p>
        </p:txBody>
      </p:sp>
      <p:sp>
        <p:nvSpPr>
          <p:cNvPr name="TextBox 12" id="12"/>
          <p:cNvSpPr txBox="true"/>
          <p:nvPr/>
        </p:nvSpPr>
        <p:spPr>
          <a:xfrm rot="0">
            <a:off x="5319048" y="3692769"/>
            <a:ext cx="2146796" cy="828675"/>
          </a:xfrm>
          <a:prstGeom prst="rect">
            <a:avLst/>
          </a:prstGeom>
        </p:spPr>
        <p:txBody>
          <a:bodyPr anchor="t" rtlCol="false" tIns="0" lIns="0" bIns="0" rIns="0">
            <a:spAutoFit/>
          </a:bodyPr>
          <a:lstStyle/>
          <a:p>
            <a:pPr algn="ctr">
              <a:lnSpc>
                <a:spcPts val="3359"/>
              </a:lnSpc>
            </a:pPr>
            <a:r>
              <a:rPr lang="en-US" sz="2799" b="true">
                <a:solidFill>
                  <a:srgbClr val="10C882"/>
                </a:solidFill>
                <a:latin typeface="Montserrat Bold"/>
                <a:ea typeface="Montserrat Bold"/>
                <a:cs typeface="Montserrat Bold"/>
                <a:sym typeface="Montserrat Bold"/>
              </a:rPr>
              <a:t>Belief State</a:t>
            </a:r>
          </a:p>
          <a:p>
            <a:pPr algn="ctr">
              <a:lnSpc>
                <a:spcPts val="3359"/>
              </a:lnSpc>
              <a:spcBef>
                <a:spcPct val="0"/>
              </a:spcBef>
            </a:pPr>
            <a:r>
              <a:rPr lang="en-US" b="true" sz="2799">
                <a:solidFill>
                  <a:srgbClr val="10C882"/>
                </a:solidFill>
                <a:latin typeface="Montserrat Bold"/>
                <a:ea typeface="Montserrat Bold"/>
                <a:cs typeface="Montserrat Bold"/>
                <a:sym typeface="Montserrat Bold"/>
              </a:rPr>
              <a:t> Engine</a:t>
            </a:r>
          </a:p>
        </p:txBody>
      </p:sp>
      <p:sp>
        <p:nvSpPr>
          <p:cNvPr name="TextBox 13" id="13"/>
          <p:cNvSpPr txBox="true"/>
          <p:nvPr/>
        </p:nvSpPr>
        <p:spPr>
          <a:xfrm rot="0">
            <a:off x="5108665" y="4697332"/>
            <a:ext cx="2567562" cy="1428750"/>
          </a:xfrm>
          <a:prstGeom prst="rect">
            <a:avLst/>
          </a:prstGeom>
        </p:spPr>
        <p:txBody>
          <a:bodyPr anchor="t" rtlCol="false" tIns="0" lIns="0" bIns="0" rIns="0">
            <a:spAutoFit/>
          </a:bodyPr>
          <a:lstStyle/>
          <a:p>
            <a:pPr algn="l" marL="410209" indent="-205105" lvl="1">
              <a:lnSpc>
                <a:spcPts val="2279"/>
              </a:lnSpc>
              <a:buFont typeface="Arial"/>
              <a:buChar char="•"/>
            </a:pPr>
            <a:r>
              <a:rPr lang="en-US" sz="1899">
                <a:solidFill>
                  <a:srgbClr val="10C882"/>
                </a:solidFill>
                <a:latin typeface="Montserrat"/>
                <a:ea typeface="Montserrat"/>
                <a:cs typeface="Montserrat"/>
                <a:sym typeface="Montserrat"/>
              </a:rPr>
              <a:t>Bayesian</a:t>
            </a:r>
            <a:r>
              <a:rPr lang="en-US" sz="1899">
                <a:solidFill>
                  <a:srgbClr val="10C882"/>
                </a:solidFill>
                <a:latin typeface="Montserrat"/>
                <a:ea typeface="Montserrat"/>
                <a:cs typeface="Montserrat"/>
                <a:sym typeface="Montserrat"/>
              </a:rPr>
              <a:t> Update</a:t>
            </a:r>
          </a:p>
          <a:p>
            <a:pPr algn="l" marL="410209" indent="-205105" lvl="1">
              <a:lnSpc>
                <a:spcPts val="2279"/>
              </a:lnSpc>
              <a:buFont typeface="Arial"/>
              <a:buChar char="•"/>
            </a:pPr>
            <a:r>
              <a:rPr lang="en-US" sz="1899">
                <a:solidFill>
                  <a:srgbClr val="10C882"/>
                </a:solidFill>
                <a:latin typeface="Montserrat"/>
                <a:ea typeface="Montserrat"/>
                <a:cs typeface="Montserrat"/>
                <a:sym typeface="Montserrat"/>
              </a:rPr>
              <a:t>Markov Transition Model</a:t>
            </a:r>
          </a:p>
          <a:p>
            <a:pPr algn="l" marL="410209" indent="-205105" lvl="1">
              <a:lnSpc>
                <a:spcPts val="2279"/>
              </a:lnSpc>
              <a:buFont typeface="Arial"/>
              <a:buChar char="•"/>
            </a:pPr>
            <a:r>
              <a:rPr lang="en-US" sz="1899">
                <a:solidFill>
                  <a:srgbClr val="10C882"/>
                </a:solidFill>
                <a:latin typeface="Montserrat"/>
                <a:ea typeface="Montserrat"/>
                <a:cs typeface="Montserrat"/>
                <a:sym typeface="Montserrat"/>
              </a:rPr>
              <a:t>Probability Distribution</a:t>
            </a:r>
          </a:p>
        </p:txBody>
      </p:sp>
      <p:sp>
        <p:nvSpPr>
          <p:cNvPr name="TextBox 14" id="14"/>
          <p:cNvSpPr txBox="true"/>
          <p:nvPr/>
        </p:nvSpPr>
        <p:spPr>
          <a:xfrm rot="0">
            <a:off x="9063968" y="3692769"/>
            <a:ext cx="1457722" cy="828675"/>
          </a:xfrm>
          <a:prstGeom prst="rect">
            <a:avLst/>
          </a:prstGeom>
        </p:spPr>
        <p:txBody>
          <a:bodyPr anchor="t" rtlCol="false" tIns="0" lIns="0" bIns="0" rIns="0">
            <a:spAutoFit/>
          </a:bodyPr>
          <a:lstStyle/>
          <a:p>
            <a:pPr algn="ctr">
              <a:lnSpc>
                <a:spcPts val="3359"/>
              </a:lnSpc>
            </a:pPr>
            <a:r>
              <a:rPr lang="en-US" sz="2799" b="true">
                <a:solidFill>
                  <a:srgbClr val="10C882"/>
                </a:solidFill>
                <a:latin typeface="Montserrat Bold"/>
                <a:ea typeface="Montserrat Bold"/>
                <a:cs typeface="Montserrat Bold"/>
                <a:sym typeface="Montserrat Bold"/>
              </a:rPr>
              <a:t>Patrol </a:t>
            </a:r>
          </a:p>
          <a:p>
            <a:pPr algn="ctr">
              <a:lnSpc>
                <a:spcPts val="3359"/>
              </a:lnSpc>
              <a:spcBef>
                <a:spcPct val="0"/>
              </a:spcBef>
            </a:pPr>
            <a:r>
              <a:rPr lang="en-US" b="true" sz="2799">
                <a:solidFill>
                  <a:srgbClr val="10C882"/>
                </a:solidFill>
                <a:latin typeface="Montserrat Bold"/>
                <a:ea typeface="Montserrat Bold"/>
                <a:cs typeface="Montserrat Bold"/>
                <a:sym typeface="Montserrat Bold"/>
              </a:rPr>
              <a:t>Planner</a:t>
            </a:r>
          </a:p>
        </p:txBody>
      </p:sp>
      <p:sp>
        <p:nvSpPr>
          <p:cNvPr name="TextBox 15" id="15"/>
          <p:cNvSpPr txBox="true"/>
          <p:nvPr/>
        </p:nvSpPr>
        <p:spPr>
          <a:xfrm rot="0">
            <a:off x="8356563" y="4697332"/>
            <a:ext cx="2872532" cy="1143000"/>
          </a:xfrm>
          <a:prstGeom prst="rect">
            <a:avLst/>
          </a:prstGeom>
        </p:spPr>
        <p:txBody>
          <a:bodyPr anchor="t" rtlCol="false" tIns="0" lIns="0" bIns="0" rIns="0">
            <a:spAutoFit/>
          </a:bodyPr>
          <a:lstStyle/>
          <a:p>
            <a:pPr algn="l" marL="410209" indent="-205105" lvl="1">
              <a:lnSpc>
                <a:spcPts val="2279"/>
              </a:lnSpc>
              <a:buFont typeface="Arial"/>
              <a:buChar char="•"/>
            </a:pPr>
            <a:r>
              <a:rPr lang="en-US" sz="1899">
                <a:solidFill>
                  <a:srgbClr val="10C882"/>
                </a:solidFill>
                <a:latin typeface="Montserrat"/>
                <a:ea typeface="Montserrat"/>
                <a:cs typeface="Montserrat"/>
                <a:sym typeface="Montserrat"/>
              </a:rPr>
              <a:t>Dijkstra /</a:t>
            </a:r>
            <a:r>
              <a:rPr lang="en-US" sz="1899">
                <a:solidFill>
                  <a:srgbClr val="10C882"/>
                </a:solidFill>
                <a:latin typeface="Montserrat"/>
                <a:ea typeface="Montserrat"/>
                <a:cs typeface="Montserrat"/>
                <a:sym typeface="Montserrat"/>
              </a:rPr>
              <a:t> A*</a:t>
            </a:r>
          </a:p>
          <a:p>
            <a:pPr algn="l" marL="410209" indent="-205105" lvl="1">
              <a:lnSpc>
                <a:spcPts val="2279"/>
              </a:lnSpc>
              <a:buFont typeface="Arial"/>
              <a:buChar char="•"/>
            </a:pPr>
            <a:r>
              <a:rPr lang="en-US" sz="1899">
                <a:solidFill>
                  <a:srgbClr val="10C882"/>
                </a:solidFill>
                <a:latin typeface="Montserrat"/>
                <a:ea typeface="Montserrat"/>
                <a:cs typeface="Montserrat"/>
                <a:sym typeface="Montserrat"/>
              </a:rPr>
              <a:t>Expected Detection</a:t>
            </a:r>
          </a:p>
          <a:p>
            <a:pPr algn="l" marL="410209" indent="-205105" lvl="1">
              <a:lnSpc>
                <a:spcPts val="2279"/>
              </a:lnSpc>
              <a:buFont typeface="Arial"/>
              <a:buChar char="•"/>
            </a:pPr>
            <a:r>
              <a:rPr lang="en-US" sz="1899">
                <a:solidFill>
                  <a:srgbClr val="10C882"/>
                </a:solidFill>
                <a:latin typeface="Montserrat"/>
                <a:ea typeface="Montserrat"/>
                <a:cs typeface="Montserrat"/>
                <a:sym typeface="Montserrat"/>
              </a:rPr>
              <a:t>Distance Constraints</a:t>
            </a:r>
          </a:p>
        </p:txBody>
      </p:sp>
      <p:sp>
        <p:nvSpPr>
          <p:cNvPr name="TextBox 16" id="16"/>
          <p:cNvSpPr txBox="true"/>
          <p:nvPr/>
        </p:nvSpPr>
        <p:spPr>
          <a:xfrm rot="0">
            <a:off x="12290065" y="3692769"/>
            <a:ext cx="1860550" cy="828675"/>
          </a:xfrm>
          <a:prstGeom prst="rect">
            <a:avLst/>
          </a:prstGeom>
        </p:spPr>
        <p:txBody>
          <a:bodyPr anchor="t" rtlCol="false" tIns="0" lIns="0" bIns="0" rIns="0">
            <a:spAutoFit/>
          </a:bodyPr>
          <a:lstStyle/>
          <a:p>
            <a:pPr algn="ctr">
              <a:lnSpc>
                <a:spcPts val="3359"/>
              </a:lnSpc>
            </a:pPr>
            <a:r>
              <a:rPr lang="en-US" sz="2799" b="true">
                <a:solidFill>
                  <a:srgbClr val="10C882"/>
                </a:solidFill>
                <a:latin typeface="Montserrat Bold"/>
                <a:ea typeface="Montserrat Bold"/>
                <a:cs typeface="Montserrat Bold"/>
                <a:sym typeface="Montserrat Bold"/>
              </a:rPr>
              <a:t>Patrol </a:t>
            </a:r>
          </a:p>
          <a:p>
            <a:pPr algn="ctr">
              <a:lnSpc>
                <a:spcPts val="3359"/>
              </a:lnSpc>
              <a:spcBef>
                <a:spcPct val="0"/>
              </a:spcBef>
            </a:pPr>
            <a:r>
              <a:rPr lang="en-US" b="true" sz="2799">
                <a:solidFill>
                  <a:srgbClr val="10C882"/>
                </a:solidFill>
                <a:latin typeface="Montserrat Bold"/>
                <a:ea typeface="Montserrat Bold"/>
                <a:cs typeface="Montserrat Bold"/>
                <a:sym typeface="Montserrat Bold"/>
              </a:rPr>
              <a:t>Execution</a:t>
            </a:r>
          </a:p>
        </p:txBody>
      </p:sp>
      <p:sp>
        <p:nvSpPr>
          <p:cNvPr name="TextBox 17" id="17"/>
          <p:cNvSpPr txBox="true"/>
          <p:nvPr/>
        </p:nvSpPr>
        <p:spPr>
          <a:xfrm rot="0">
            <a:off x="11905370" y="4718797"/>
            <a:ext cx="2872532" cy="1143000"/>
          </a:xfrm>
          <a:prstGeom prst="rect">
            <a:avLst/>
          </a:prstGeom>
        </p:spPr>
        <p:txBody>
          <a:bodyPr anchor="t" rtlCol="false" tIns="0" lIns="0" bIns="0" rIns="0">
            <a:spAutoFit/>
          </a:bodyPr>
          <a:lstStyle/>
          <a:p>
            <a:pPr algn="l" marL="410209" indent="-205105" lvl="1">
              <a:lnSpc>
                <a:spcPts val="2279"/>
              </a:lnSpc>
              <a:buFont typeface="Arial"/>
              <a:buChar char="•"/>
            </a:pPr>
            <a:r>
              <a:rPr lang="en-US" sz="1899">
                <a:solidFill>
                  <a:srgbClr val="10C882"/>
                </a:solidFill>
                <a:latin typeface="Montserrat"/>
                <a:ea typeface="Montserrat"/>
                <a:cs typeface="Montserrat"/>
                <a:sym typeface="Montserrat"/>
              </a:rPr>
              <a:t>Route Execution</a:t>
            </a:r>
          </a:p>
          <a:p>
            <a:pPr algn="l" marL="410209" indent="-205105" lvl="1">
              <a:lnSpc>
                <a:spcPts val="2279"/>
              </a:lnSpc>
              <a:buFont typeface="Arial"/>
              <a:buChar char="•"/>
            </a:pPr>
            <a:r>
              <a:rPr lang="en-US" sz="1899">
                <a:solidFill>
                  <a:srgbClr val="10C882"/>
                </a:solidFill>
                <a:latin typeface="Montserrat"/>
                <a:ea typeface="Montserrat"/>
                <a:cs typeface="Montserrat"/>
                <a:sym typeface="Montserrat"/>
              </a:rPr>
              <a:t>Ranger Feedback</a:t>
            </a:r>
          </a:p>
          <a:p>
            <a:pPr algn="l" marL="410209" indent="-205105" lvl="1">
              <a:lnSpc>
                <a:spcPts val="2279"/>
              </a:lnSpc>
              <a:buFont typeface="Arial"/>
              <a:buChar char="•"/>
            </a:pPr>
            <a:r>
              <a:rPr lang="en-US" sz="1899">
                <a:solidFill>
                  <a:srgbClr val="10C882"/>
                </a:solidFill>
                <a:latin typeface="Montserrat"/>
                <a:ea typeface="Montserrat"/>
                <a:cs typeface="Montserrat"/>
                <a:sym typeface="Montserrat"/>
              </a:rPr>
              <a:t>Dynamic Replanning</a:t>
            </a:r>
          </a:p>
        </p:txBody>
      </p:sp>
      <p:sp>
        <p:nvSpPr>
          <p:cNvPr name="TextBox 18" id="18"/>
          <p:cNvSpPr txBox="true"/>
          <p:nvPr/>
        </p:nvSpPr>
        <p:spPr>
          <a:xfrm rot="0">
            <a:off x="14875422" y="3924263"/>
            <a:ext cx="3412578" cy="409575"/>
          </a:xfrm>
          <a:prstGeom prst="rect">
            <a:avLst/>
          </a:prstGeom>
        </p:spPr>
        <p:txBody>
          <a:bodyPr anchor="t" rtlCol="false" tIns="0" lIns="0" bIns="0" rIns="0">
            <a:spAutoFit/>
          </a:bodyPr>
          <a:lstStyle/>
          <a:p>
            <a:pPr algn="ctr">
              <a:lnSpc>
                <a:spcPts val="3359"/>
              </a:lnSpc>
              <a:spcBef>
                <a:spcPct val="0"/>
              </a:spcBef>
            </a:pPr>
            <a:r>
              <a:rPr lang="en-US" b="true" sz="2799">
                <a:solidFill>
                  <a:srgbClr val="10C882"/>
                </a:solidFill>
                <a:latin typeface="Montserrat Bold"/>
                <a:ea typeface="Montserrat Bold"/>
                <a:cs typeface="Montserrat Bold"/>
                <a:sym typeface="Montserrat Bold"/>
              </a:rPr>
              <a:t>Patrol Route</a:t>
            </a:r>
          </a:p>
        </p:txBody>
      </p:sp>
      <p:sp>
        <p:nvSpPr>
          <p:cNvPr name="TextBox 19" id="19"/>
          <p:cNvSpPr txBox="true"/>
          <p:nvPr/>
        </p:nvSpPr>
        <p:spPr>
          <a:xfrm rot="0">
            <a:off x="15145445" y="4563982"/>
            <a:ext cx="2872532" cy="857250"/>
          </a:xfrm>
          <a:prstGeom prst="rect">
            <a:avLst/>
          </a:prstGeom>
        </p:spPr>
        <p:txBody>
          <a:bodyPr anchor="t" rtlCol="false" tIns="0" lIns="0" bIns="0" rIns="0">
            <a:spAutoFit/>
          </a:bodyPr>
          <a:lstStyle/>
          <a:p>
            <a:pPr algn="l" marL="410209" indent="-205105" lvl="1">
              <a:lnSpc>
                <a:spcPts val="2279"/>
              </a:lnSpc>
              <a:buFont typeface="Arial"/>
              <a:buChar char="•"/>
            </a:pPr>
            <a:r>
              <a:rPr lang="en-US" sz="1899">
                <a:solidFill>
                  <a:srgbClr val="10C882"/>
                </a:solidFill>
                <a:latin typeface="Montserrat"/>
                <a:ea typeface="Montserrat"/>
                <a:cs typeface="Montserrat"/>
                <a:sym typeface="Montserrat"/>
              </a:rPr>
              <a:t>Optimized Route</a:t>
            </a:r>
          </a:p>
          <a:p>
            <a:pPr algn="l" marL="410209" indent="-205105" lvl="1">
              <a:lnSpc>
                <a:spcPts val="2279"/>
              </a:lnSpc>
              <a:buFont typeface="Arial"/>
              <a:buChar char="•"/>
            </a:pPr>
            <a:r>
              <a:rPr lang="en-US" sz="1899">
                <a:solidFill>
                  <a:srgbClr val="10C882"/>
                </a:solidFill>
                <a:latin typeface="Montserrat"/>
                <a:ea typeface="Montserrat"/>
                <a:cs typeface="Montserrat"/>
                <a:sym typeface="Montserrat"/>
              </a:rPr>
              <a:t>Current Position</a:t>
            </a:r>
          </a:p>
          <a:p>
            <a:pPr algn="l" marL="410209" indent="-205105" lvl="1">
              <a:lnSpc>
                <a:spcPts val="2279"/>
              </a:lnSpc>
              <a:buFont typeface="Arial"/>
              <a:buChar char="•"/>
            </a:pPr>
            <a:r>
              <a:rPr lang="en-US" sz="1899">
                <a:solidFill>
                  <a:srgbClr val="10C882"/>
                </a:solidFill>
                <a:latin typeface="Montserrat"/>
                <a:ea typeface="Montserrat"/>
                <a:cs typeface="Montserrat"/>
                <a:sym typeface="Montserrat"/>
              </a:rPr>
              <a:t>P</a:t>
            </a:r>
            <a:r>
              <a:rPr lang="en-US" sz="1899">
                <a:solidFill>
                  <a:srgbClr val="10C882"/>
                </a:solidFill>
                <a:latin typeface="Montserrat"/>
                <a:ea typeface="Montserrat"/>
                <a:cs typeface="Montserrat"/>
                <a:sym typeface="Montserrat"/>
              </a:rPr>
              <a:t>atrol Constraints</a:t>
            </a:r>
          </a:p>
        </p:txBody>
      </p:sp>
      <p:sp>
        <p:nvSpPr>
          <p:cNvPr name="TextBox 20" id="20"/>
          <p:cNvSpPr txBox="true"/>
          <p:nvPr/>
        </p:nvSpPr>
        <p:spPr>
          <a:xfrm rot="0">
            <a:off x="9979024" y="7126207"/>
            <a:ext cx="3224808" cy="409575"/>
          </a:xfrm>
          <a:prstGeom prst="rect">
            <a:avLst/>
          </a:prstGeom>
        </p:spPr>
        <p:txBody>
          <a:bodyPr anchor="t" rtlCol="false" tIns="0" lIns="0" bIns="0" rIns="0">
            <a:spAutoFit/>
          </a:bodyPr>
          <a:lstStyle/>
          <a:p>
            <a:pPr algn="ctr">
              <a:lnSpc>
                <a:spcPts val="3359"/>
              </a:lnSpc>
              <a:spcBef>
                <a:spcPct val="0"/>
              </a:spcBef>
            </a:pPr>
            <a:r>
              <a:rPr lang="en-US" b="true" sz="2799">
                <a:solidFill>
                  <a:srgbClr val="10C882"/>
                </a:solidFill>
                <a:latin typeface="Montserrat Bold"/>
                <a:ea typeface="Montserrat Bold"/>
                <a:cs typeface="Montserrat Bold"/>
                <a:sym typeface="Montserrat Bold"/>
              </a:rPr>
              <a:t>New Observation</a:t>
            </a:r>
          </a:p>
        </p:txBody>
      </p:sp>
      <p:sp>
        <p:nvSpPr>
          <p:cNvPr name="Freeform 21" id="21"/>
          <p:cNvSpPr/>
          <p:nvPr/>
        </p:nvSpPr>
        <p:spPr>
          <a:xfrm flipH="false" flipV="false" rot="0">
            <a:off x="10521690" y="7535782"/>
            <a:ext cx="7315200" cy="2743200"/>
          </a:xfrm>
          <a:custGeom>
            <a:avLst/>
            <a:gdLst/>
            <a:ahLst/>
            <a:cxnLst/>
            <a:rect r="r" b="b" t="t" l="l"/>
            <a:pathLst>
              <a:path h="2743200" w="7315200">
                <a:moveTo>
                  <a:pt x="0" y="0"/>
                </a:moveTo>
                <a:lnTo>
                  <a:pt x="7315200" y="0"/>
                </a:lnTo>
                <a:lnTo>
                  <a:pt x="7315200" y="2743200"/>
                </a:lnTo>
                <a:lnTo>
                  <a:pt x="0" y="27432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2" id="22"/>
          <p:cNvSpPr txBox="true"/>
          <p:nvPr/>
        </p:nvSpPr>
        <p:spPr>
          <a:xfrm rot="0">
            <a:off x="10052793" y="8220829"/>
            <a:ext cx="3077270" cy="361950"/>
          </a:xfrm>
          <a:prstGeom prst="rect">
            <a:avLst/>
          </a:prstGeom>
        </p:spPr>
        <p:txBody>
          <a:bodyPr anchor="t" rtlCol="false" tIns="0" lIns="0" bIns="0" rIns="0">
            <a:spAutoFit/>
          </a:bodyPr>
          <a:lstStyle/>
          <a:p>
            <a:pPr algn="ctr">
              <a:lnSpc>
                <a:spcPts val="2999"/>
              </a:lnSpc>
              <a:spcBef>
                <a:spcPct val="0"/>
              </a:spcBef>
            </a:pPr>
            <a:r>
              <a:rPr lang="en-US" sz="2499">
                <a:solidFill>
                  <a:srgbClr val="10C882"/>
                </a:solidFill>
                <a:latin typeface="Montserrat"/>
                <a:ea typeface="Montserrat"/>
                <a:cs typeface="Montserrat"/>
                <a:sym typeface="Montserrat"/>
              </a:rPr>
              <a:t>Belief State Update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1282E"/>
        </a:solidFill>
      </p:bgPr>
    </p:bg>
    <p:spTree>
      <p:nvGrpSpPr>
        <p:cNvPr id="1" name=""/>
        <p:cNvGrpSpPr/>
        <p:nvPr/>
      </p:nvGrpSpPr>
      <p:grpSpPr>
        <a:xfrm>
          <a:off x="0" y="0"/>
          <a:ext cx="0" cy="0"/>
          <a:chOff x="0" y="0"/>
          <a:chExt cx="0" cy="0"/>
        </a:xfrm>
      </p:grpSpPr>
      <p:sp>
        <p:nvSpPr>
          <p:cNvPr name="Freeform 2" id="2"/>
          <p:cNvSpPr/>
          <p:nvPr/>
        </p:nvSpPr>
        <p:spPr>
          <a:xfrm flipH="false" flipV="false" rot="0">
            <a:off x="1203805" y="1786897"/>
            <a:ext cx="1530464" cy="1569707"/>
          </a:xfrm>
          <a:custGeom>
            <a:avLst/>
            <a:gdLst/>
            <a:ahLst/>
            <a:cxnLst/>
            <a:rect r="r" b="b" t="t" l="l"/>
            <a:pathLst>
              <a:path h="1569707" w="1530464">
                <a:moveTo>
                  <a:pt x="0" y="0"/>
                </a:moveTo>
                <a:lnTo>
                  <a:pt x="1530464" y="0"/>
                </a:lnTo>
                <a:lnTo>
                  <a:pt x="1530464" y="1569706"/>
                </a:lnTo>
                <a:lnTo>
                  <a:pt x="0" y="15697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798456" y="1786897"/>
            <a:ext cx="14066866" cy="1569707"/>
            <a:chOff x="0" y="0"/>
            <a:chExt cx="2941182" cy="328203"/>
          </a:xfrm>
        </p:grpSpPr>
        <p:sp>
          <p:nvSpPr>
            <p:cNvPr name="Freeform 4" id="4"/>
            <p:cNvSpPr/>
            <p:nvPr/>
          </p:nvSpPr>
          <p:spPr>
            <a:xfrm flipH="false" flipV="false" rot="0">
              <a:off x="0" y="0"/>
              <a:ext cx="2941182" cy="328203"/>
            </a:xfrm>
            <a:custGeom>
              <a:avLst/>
              <a:gdLst/>
              <a:ahLst/>
              <a:cxnLst/>
              <a:rect r="r" b="b" t="t" l="l"/>
              <a:pathLst>
                <a:path h="328203" w="2941182">
                  <a:moveTo>
                    <a:pt x="10749" y="0"/>
                  </a:moveTo>
                  <a:lnTo>
                    <a:pt x="2930432" y="0"/>
                  </a:lnTo>
                  <a:cubicBezTo>
                    <a:pt x="2933283" y="0"/>
                    <a:pt x="2936017" y="1133"/>
                    <a:pt x="2938033" y="3148"/>
                  </a:cubicBezTo>
                  <a:cubicBezTo>
                    <a:pt x="2940049" y="5164"/>
                    <a:pt x="2941182" y="7898"/>
                    <a:pt x="2941182" y="10749"/>
                  </a:cubicBezTo>
                  <a:lnTo>
                    <a:pt x="2941182" y="317454"/>
                  </a:lnTo>
                  <a:cubicBezTo>
                    <a:pt x="2941182" y="320305"/>
                    <a:pt x="2940049" y="323039"/>
                    <a:pt x="2938033" y="325055"/>
                  </a:cubicBezTo>
                  <a:cubicBezTo>
                    <a:pt x="2936017" y="327071"/>
                    <a:pt x="2933283" y="328203"/>
                    <a:pt x="2930432" y="328203"/>
                  </a:cubicBezTo>
                  <a:lnTo>
                    <a:pt x="10749" y="328203"/>
                  </a:lnTo>
                  <a:cubicBezTo>
                    <a:pt x="7898" y="328203"/>
                    <a:pt x="5164" y="327071"/>
                    <a:pt x="3148" y="325055"/>
                  </a:cubicBezTo>
                  <a:cubicBezTo>
                    <a:pt x="1133" y="323039"/>
                    <a:pt x="0" y="320305"/>
                    <a:pt x="0" y="317454"/>
                  </a:cubicBezTo>
                  <a:lnTo>
                    <a:pt x="0" y="10749"/>
                  </a:lnTo>
                  <a:cubicBezTo>
                    <a:pt x="0" y="7898"/>
                    <a:pt x="1133" y="5164"/>
                    <a:pt x="3148" y="3148"/>
                  </a:cubicBezTo>
                  <a:cubicBezTo>
                    <a:pt x="5164" y="1133"/>
                    <a:pt x="7898" y="0"/>
                    <a:pt x="10749" y="0"/>
                  </a:cubicBezTo>
                  <a:close/>
                </a:path>
              </a:pathLst>
            </a:custGeom>
            <a:solidFill>
              <a:srgbClr val="437659">
                <a:alpha val="54902"/>
              </a:srgbClr>
            </a:solidFill>
          </p:spPr>
        </p:sp>
        <p:sp>
          <p:nvSpPr>
            <p:cNvPr name="TextBox 5" id="5"/>
            <p:cNvSpPr txBox="true"/>
            <p:nvPr/>
          </p:nvSpPr>
          <p:spPr>
            <a:xfrm>
              <a:off x="0" y="0"/>
              <a:ext cx="2941182" cy="328203"/>
            </a:xfrm>
            <a:prstGeom prst="rect">
              <a:avLst/>
            </a:prstGeom>
          </p:spPr>
          <p:txBody>
            <a:bodyPr anchor="ctr" rtlCol="false" tIns="50800" lIns="50800" bIns="50800" rIns="50800"/>
            <a:lstStyle/>
            <a:p>
              <a:pPr algn="ctr">
                <a:lnSpc>
                  <a:spcPts val="2279"/>
                </a:lnSpc>
              </a:pPr>
            </a:p>
          </p:txBody>
        </p:sp>
      </p:grpSp>
      <p:sp>
        <p:nvSpPr>
          <p:cNvPr name="TextBox 6" id="6"/>
          <p:cNvSpPr txBox="true"/>
          <p:nvPr/>
        </p:nvSpPr>
        <p:spPr>
          <a:xfrm rot="0">
            <a:off x="5042148" y="358147"/>
            <a:ext cx="9579481" cy="933450"/>
          </a:xfrm>
          <a:prstGeom prst="rect">
            <a:avLst/>
          </a:prstGeom>
        </p:spPr>
        <p:txBody>
          <a:bodyPr anchor="t" rtlCol="false" tIns="0" lIns="0" bIns="0" rIns="0">
            <a:spAutoFit/>
          </a:bodyPr>
          <a:lstStyle/>
          <a:p>
            <a:pPr algn="l">
              <a:lnSpc>
                <a:spcPts val="6750"/>
              </a:lnSpc>
            </a:pPr>
            <a:r>
              <a:rPr lang="en-US" sz="7500">
                <a:solidFill>
                  <a:srgbClr val="10C882"/>
                </a:solidFill>
                <a:latin typeface="Alice"/>
                <a:ea typeface="Alice"/>
                <a:cs typeface="Alice"/>
                <a:sym typeface="Alice"/>
              </a:rPr>
              <a:t>Expected Outcomes</a:t>
            </a:r>
          </a:p>
        </p:txBody>
      </p:sp>
      <p:sp>
        <p:nvSpPr>
          <p:cNvPr name="TextBox 7" id="7"/>
          <p:cNvSpPr txBox="true"/>
          <p:nvPr/>
        </p:nvSpPr>
        <p:spPr>
          <a:xfrm rot="0">
            <a:off x="3017329" y="1971675"/>
            <a:ext cx="14066866" cy="1114425"/>
          </a:xfrm>
          <a:prstGeom prst="rect">
            <a:avLst/>
          </a:prstGeom>
        </p:spPr>
        <p:txBody>
          <a:bodyPr anchor="t" rtlCol="false" tIns="0" lIns="0" bIns="0" rIns="0">
            <a:spAutoFit/>
          </a:bodyPr>
          <a:lstStyle/>
          <a:p>
            <a:pPr algn="l">
              <a:lnSpc>
                <a:spcPts val="4500"/>
              </a:lnSpc>
            </a:pPr>
            <a:r>
              <a:rPr lang="en-US" sz="3000">
                <a:solidFill>
                  <a:srgbClr val="FFFFFF"/>
                </a:solidFill>
                <a:latin typeface="Montserrat"/>
                <a:ea typeface="Montserrat"/>
                <a:cs typeface="Montserrat"/>
                <a:sym typeface="Montserrat"/>
              </a:rPr>
              <a:t> </a:t>
            </a:r>
            <a:r>
              <a:rPr lang="en-US" sz="3000">
                <a:solidFill>
                  <a:srgbClr val="FFFFFF"/>
                </a:solidFill>
                <a:latin typeface="Montserrat"/>
                <a:ea typeface="Montserrat"/>
                <a:cs typeface="Montserrat"/>
                <a:sym typeface="Montserrat"/>
              </a:rPr>
              <a:t>Accurate Risk Estimation: Identify high-probability poacher zones using available observations and historical data.</a:t>
            </a:r>
          </a:p>
        </p:txBody>
      </p:sp>
      <p:sp>
        <p:nvSpPr>
          <p:cNvPr name="Freeform 8" id="8"/>
          <p:cNvSpPr/>
          <p:nvPr/>
        </p:nvSpPr>
        <p:spPr>
          <a:xfrm flipH="false" flipV="false" rot="0">
            <a:off x="1203805" y="3842378"/>
            <a:ext cx="1530464" cy="1569707"/>
          </a:xfrm>
          <a:custGeom>
            <a:avLst/>
            <a:gdLst/>
            <a:ahLst/>
            <a:cxnLst/>
            <a:rect r="r" b="b" t="t" l="l"/>
            <a:pathLst>
              <a:path h="1569707" w="1530464">
                <a:moveTo>
                  <a:pt x="0" y="0"/>
                </a:moveTo>
                <a:lnTo>
                  <a:pt x="1530464" y="0"/>
                </a:lnTo>
                <a:lnTo>
                  <a:pt x="1530464" y="1569707"/>
                </a:lnTo>
                <a:lnTo>
                  <a:pt x="0" y="15697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2798456" y="3842378"/>
            <a:ext cx="14066866" cy="1569707"/>
            <a:chOff x="0" y="0"/>
            <a:chExt cx="2941182" cy="328203"/>
          </a:xfrm>
        </p:grpSpPr>
        <p:sp>
          <p:nvSpPr>
            <p:cNvPr name="Freeform 10" id="10"/>
            <p:cNvSpPr/>
            <p:nvPr/>
          </p:nvSpPr>
          <p:spPr>
            <a:xfrm flipH="false" flipV="false" rot="0">
              <a:off x="0" y="0"/>
              <a:ext cx="2941182" cy="328203"/>
            </a:xfrm>
            <a:custGeom>
              <a:avLst/>
              <a:gdLst/>
              <a:ahLst/>
              <a:cxnLst/>
              <a:rect r="r" b="b" t="t" l="l"/>
              <a:pathLst>
                <a:path h="328203" w="2941182">
                  <a:moveTo>
                    <a:pt x="10749" y="0"/>
                  </a:moveTo>
                  <a:lnTo>
                    <a:pt x="2930432" y="0"/>
                  </a:lnTo>
                  <a:cubicBezTo>
                    <a:pt x="2933283" y="0"/>
                    <a:pt x="2936017" y="1133"/>
                    <a:pt x="2938033" y="3148"/>
                  </a:cubicBezTo>
                  <a:cubicBezTo>
                    <a:pt x="2940049" y="5164"/>
                    <a:pt x="2941182" y="7898"/>
                    <a:pt x="2941182" y="10749"/>
                  </a:cubicBezTo>
                  <a:lnTo>
                    <a:pt x="2941182" y="317454"/>
                  </a:lnTo>
                  <a:cubicBezTo>
                    <a:pt x="2941182" y="320305"/>
                    <a:pt x="2940049" y="323039"/>
                    <a:pt x="2938033" y="325055"/>
                  </a:cubicBezTo>
                  <a:cubicBezTo>
                    <a:pt x="2936017" y="327071"/>
                    <a:pt x="2933283" y="328203"/>
                    <a:pt x="2930432" y="328203"/>
                  </a:cubicBezTo>
                  <a:lnTo>
                    <a:pt x="10749" y="328203"/>
                  </a:lnTo>
                  <a:cubicBezTo>
                    <a:pt x="7898" y="328203"/>
                    <a:pt x="5164" y="327071"/>
                    <a:pt x="3148" y="325055"/>
                  </a:cubicBezTo>
                  <a:cubicBezTo>
                    <a:pt x="1133" y="323039"/>
                    <a:pt x="0" y="320305"/>
                    <a:pt x="0" y="317454"/>
                  </a:cubicBezTo>
                  <a:lnTo>
                    <a:pt x="0" y="10749"/>
                  </a:lnTo>
                  <a:cubicBezTo>
                    <a:pt x="0" y="7898"/>
                    <a:pt x="1133" y="5164"/>
                    <a:pt x="3148" y="3148"/>
                  </a:cubicBezTo>
                  <a:cubicBezTo>
                    <a:pt x="5164" y="1133"/>
                    <a:pt x="7898" y="0"/>
                    <a:pt x="10749" y="0"/>
                  </a:cubicBezTo>
                  <a:close/>
                </a:path>
              </a:pathLst>
            </a:custGeom>
            <a:solidFill>
              <a:srgbClr val="437659">
                <a:alpha val="54902"/>
              </a:srgbClr>
            </a:solidFill>
          </p:spPr>
        </p:sp>
        <p:sp>
          <p:nvSpPr>
            <p:cNvPr name="TextBox 11" id="11"/>
            <p:cNvSpPr txBox="true"/>
            <p:nvPr/>
          </p:nvSpPr>
          <p:spPr>
            <a:xfrm>
              <a:off x="0" y="0"/>
              <a:ext cx="2941182" cy="328203"/>
            </a:xfrm>
            <a:prstGeom prst="rect">
              <a:avLst/>
            </a:prstGeom>
          </p:spPr>
          <p:txBody>
            <a:bodyPr anchor="ctr" rtlCol="false" tIns="50800" lIns="50800" bIns="50800" rIns="50800"/>
            <a:lstStyle/>
            <a:p>
              <a:pPr algn="ctr">
                <a:lnSpc>
                  <a:spcPts val="2279"/>
                </a:lnSpc>
              </a:pPr>
            </a:p>
          </p:txBody>
        </p:sp>
      </p:grpSp>
      <p:sp>
        <p:nvSpPr>
          <p:cNvPr name="TextBox 12" id="12"/>
          <p:cNvSpPr txBox="true"/>
          <p:nvPr/>
        </p:nvSpPr>
        <p:spPr>
          <a:xfrm rot="0">
            <a:off x="3017329" y="4027157"/>
            <a:ext cx="14066866" cy="1114425"/>
          </a:xfrm>
          <a:prstGeom prst="rect">
            <a:avLst/>
          </a:prstGeom>
        </p:spPr>
        <p:txBody>
          <a:bodyPr anchor="t" rtlCol="false" tIns="0" lIns="0" bIns="0" rIns="0">
            <a:spAutoFit/>
          </a:bodyPr>
          <a:lstStyle/>
          <a:p>
            <a:pPr algn="l">
              <a:lnSpc>
                <a:spcPts val="4500"/>
              </a:lnSpc>
            </a:pPr>
            <a:r>
              <a:rPr lang="en-US" sz="3000">
                <a:solidFill>
                  <a:srgbClr val="FFFFFF"/>
                </a:solidFill>
                <a:latin typeface="Montserrat"/>
                <a:ea typeface="Montserrat"/>
                <a:cs typeface="Montserrat"/>
                <a:sym typeface="Montserrat"/>
              </a:rPr>
              <a:t>Adaptive Patrol Planning: Generate patrol routes that prioritize high-risk areas within defined constraints.</a:t>
            </a:r>
          </a:p>
        </p:txBody>
      </p:sp>
      <p:sp>
        <p:nvSpPr>
          <p:cNvPr name="Freeform 13" id="13"/>
          <p:cNvSpPr/>
          <p:nvPr/>
        </p:nvSpPr>
        <p:spPr>
          <a:xfrm flipH="false" flipV="false" rot="0">
            <a:off x="1203805" y="5897860"/>
            <a:ext cx="1530464" cy="1569707"/>
          </a:xfrm>
          <a:custGeom>
            <a:avLst/>
            <a:gdLst/>
            <a:ahLst/>
            <a:cxnLst/>
            <a:rect r="r" b="b" t="t" l="l"/>
            <a:pathLst>
              <a:path h="1569707" w="1530464">
                <a:moveTo>
                  <a:pt x="0" y="0"/>
                </a:moveTo>
                <a:lnTo>
                  <a:pt x="1530464" y="0"/>
                </a:lnTo>
                <a:lnTo>
                  <a:pt x="1530464" y="1569706"/>
                </a:lnTo>
                <a:lnTo>
                  <a:pt x="0" y="15697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2798456" y="5897860"/>
            <a:ext cx="14066866" cy="1569707"/>
            <a:chOff x="0" y="0"/>
            <a:chExt cx="2941182" cy="328203"/>
          </a:xfrm>
        </p:grpSpPr>
        <p:sp>
          <p:nvSpPr>
            <p:cNvPr name="Freeform 15" id="15"/>
            <p:cNvSpPr/>
            <p:nvPr/>
          </p:nvSpPr>
          <p:spPr>
            <a:xfrm flipH="false" flipV="false" rot="0">
              <a:off x="0" y="0"/>
              <a:ext cx="2941182" cy="328203"/>
            </a:xfrm>
            <a:custGeom>
              <a:avLst/>
              <a:gdLst/>
              <a:ahLst/>
              <a:cxnLst/>
              <a:rect r="r" b="b" t="t" l="l"/>
              <a:pathLst>
                <a:path h="328203" w="2941182">
                  <a:moveTo>
                    <a:pt x="10749" y="0"/>
                  </a:moveTo>
                  <a:lnTo>
                    <a:pt x="2930432" y="0"/>
                  </a:lnTo>
                  <a:cubicBezTo>
                    <a:pt x="2933283" y="0"/>
                    <a:pt x="2936017" y="1133"/>
                    <a:pt x="2938033" y="3148"/>
                  </a:cubicBezTo>
                  <a:cubicBezTo>
                    <a:pt x="2940049" y="5164"/>
                    <a:pt x="2941182" y="7898"/>
                    <a:pt x="2941182" y="10749"/>
                  </a:cubicBezTo>
                  <a:lnTo>
                    <a:pt x="2941182" y="317454"/>
                  </a:lnTo>
                  <a:cubicBezTo>
                    <a:pt x="2941182" y="320305"/>
                    <a:pt x="2940049" y="323039"/>
                    <a:pt x="2938033" y="325055"/>
                  </a:cubicBezTo>
                  <a:cubicBezTo>
                    <a:pt x="2936017" y="327071"/>
                    <a:pt x="2933283" y="328203"/>
                    <a:pt x="2930432" y="328203"/>
                  </a:cubicBezTo>
                  <a:lnTo>
                    <a:pt x="10749" y="328203"/>
                  </a:lnTo>
                  <a:cubicBezTo>
                    <a:pt x="7898" y="328203"/>
                    <a:pt x="5164" y="327071"/>
                    <a:pt x="3148" y="325055"/>
                  </a:cubicBezTo>
                  <a:cubicBezTo>
                    <a:pt x="1133" y="323039"/>
                    <a:pt x="0" y="320305"/>
                    <a:pt x="0" y="317454"/>
                  </a:cubicBezTo>
                  <a:lnTo>
                    <a:pt x="0" y="10749"/>
                  </a:lnTo>
                  <a:cubicBezTo>
                    <a:pt x="0" y="7898"/>
                    <a:pt x="1133" y="5164"/>
                    <a:pt x="3148" y="3148"/>
                  </a:cubicBezTo>
                  <a:cubicBezTo>
                    <a:pt x="5164" y="1133"/>
                    <a:pt x="7898" y="0"/>
                    <a:pt x="10749" y="0"/>
                  </a:cubicBezTo>
                  <a:close/>
                </a:path>
              </a:pathLst>
            </a:custGeom>
            <a:solidFill>
              <a:srgbClr val="437659">
                <a:alpha val="54902"/>
              </a:srgbClr>
            </a:solidFill>
          </p:spPr>
        </p:sp>
        <p:sp>
          <p:nvSpPr>
            <p:cNvPr name="TextBox 16" id="16"/>
            <p:cNvSpPr txBox="true"/>
            <p:nvPr/>
          </p:nvSpPr>
          <p:spPr>
            <a:xfrm>
              <a:off x="0" y="0"/>
              <a:ext cx="2941182" cy="328203"/>
            </a:xfrm>
            <a:prstGeom prst="rect">
              <a:avLst/>
            </a:prstGeom>
          </p:spPr>
          <p:txBody>
            <a:bodyPr anchor="ctr" rtlCol="false" tIns="50800" lIns="50800" bIns="50800" rIns="50800"/>
            <a:lstStyle/>
            <a:p>
              <a:pPr algn="ctr">
                <a:lnSpc>
                  <a:spcPts val="2279"/>
                </a:lnSpc>
              </a:pPr>
            </a:p>
          </p:txBody>
        </p:sp>
      </p:grpSp>
      <p:sp>
        <p:nvSpPr>
          <p:cNvPr name="TextBox 17" id="17"/>
          <p:cNvSpPr txBox="true"/>
          <p:nvPr/>
        </p:nvSpPr>
        <p:spPr>
          <a:xfrm rot="0">
            <a:off x="3017329" y="6082638"/>
            <a:ext cx="13847992" cy="1114425"/>
          </a:xfrm>
          <a:prstGeom prst="rect">
            <a:avLst/>
          </a:prstGeom>
        </p:spPr>
        <p:txBody>
          <a:bodyPr anchor="t" rtlCol="false" tIns="0" lIns="0" bIns="0" rIns="0">
            <a:spAutoFit/>
          </a:bodyPr>
          <a:lstStyle/>
          <a:p>
            <a:pPr algn="l">
              <a:lnSpc>
                <a:spcPts val="4500"/>
              </a:lnSpc>
            </a:pPr>
            <a:r>
              <a:rPr lang="en-US" sz="3000">
                <a:solidFill>
                  <a:srgbClr val="FFFFFF"/>
                </a:solidFill>
                <a:latin typeface="Montserrat"/>
                <a:ea typeface="Montserrat"/>
                <a:cs typeface="Montserrat"/>
                <a:sym typeface="Montserrat"/>
              </a:rPr>
              <a:t>Efficient Resource Utilization: Reduce unnecessary travel while improving coverage of critical zones.</a:t>
            </a:r>
          </a:p>
        </p:txBody>
      </p:sp>
      <p:sp>
        <p:nvSpPr>
          <p:cNvPr name="Freeform 18" id="18"/>
          <p:cNvSpPr/>
          <p:nvPr/>
        </p:nvSpPr>
        <p:spPr>
          <a:xfrm flipH="false" flipV="false" rot="0">
            <a:off x="1203805" y="7688593"/>
            <a:ext cx="1530464" cy="1569707"/>
          </a:xfrm>
          <a:custGeom>
            <a:avLst/>
            <a:gdLst/>
            <a:ahLst/>
            <a:cxnLst/>
            <a:rect r="r" b="b" t="t" l="l"/>
            <a:pathLst>
              <a:path h="1569707" w="1530464">
                <a:moveTo>
                  <a:pt x="0" y="0"/>
                </a:moveTo>
                <a:lnTo>
                  <a:pt x="1530464" y="0"/>
                </a:lnTo>
                <a:lnTo>
                  <a:pt x="1530464" y="1569707"/>
                </a:lnTo>
                <a:lnTo>
                  <a:pt x="0" y="15697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9" id="19"/>
          <p:cNvGrpSpPr/>
          <p:nvPr/>
        </p:nvGrpSpPr>
        <p:grpSpPr>
          <a:xfrm rot="0">
            <a:off x="2798456" y="7688593"/>
            <a:ext cx="14066866" cy="1569707"/>
            <a:chOff x="0" y="0"/>
            <a:chExt cx="2941182" cy="328203"/>
          </a:xfrm>
        </p:grpSpPr>
        <p:sp>
          <p:nvSpPr>
            <p:cNvPr name="Freeform 20" id="20"/>
            <p:cNvSpPr/>
            <p:nvPr/>
          </p:nvSpPr>
          <p:spPr>
            <a:xfrm flipH="false" flipV="false" rot="0">
              <a:off x="0" y="0"/>
              <a:ext cx="2941182" cy="328203"/>
            </a:xfrm>
            <a:custGeom>
              <a:avLst/>
              <a:gdLst/>
              <a:ahLst/>
              <a:cxnLst/>
              <a:rect r="r" b="b" t="t" l="l"/>
              <a:pathLst>
                <a:path h="328203" w="2941182">
                  <a:moveTo>
                    <a:pt x="10749" y="0"/>
                  </a:moveTo>
                  <a:lnTo>
                    <a:pt x="2930432" y="0"/>
                  </a:lnTo>
                  <a:cubicBezTo>
                    <a:pt x="2933283" y="0"/>
                    <a:pt x="2936017" y="1133"/>
                    <a:pt x="2938033" y="3148"/>
                  </a:cubicBezTo>
                  <a:cubicBezTo>
                    <a:pt x="2940049" y="5164"/>
                    <a:pt x="2941182" y="7898"/>
                    <a:pt x="2941182" y="10749"/>
                  </a:cubicBezTo>
                  <a:lnTo>
                    <a:pt x="2941182" y="317454"/>
                  </a:lnTo>
                  <a:cubicBezTo>
                    <a:pt x="2941182" y="320305"/>
                    <a:pt x="2940049" y="323039"/>
                    <a:pt x="2938033" y="325055"/>
                  </a:cubicBezTo>
                  <a:cubicBezTo>
                    <a:pt x="2936017" y="327071"/>
                    <a:pt x="2933283" y="328203"/>
                    <a:pt x="2930432" y="328203"/>
                  </a:cubicBezTo>
                  <a:lnTo>
                    <a:pt x="10749" y="328203"/>
                  </a:lnTo>
                  <a:cubicBezTo>
                    <a:pt x="7898" y="328203"/>
                    <a:pt x="5164" y="327071"/>
                    <a:pt x="3148" y="325055"/>
                  </a:cubicBezTo>
                  <a:cubicBezTo>
                    <a:pt x="1133" y="323039"/>
                    <a:pt x="0" y="320305"/>
                    <a:pt x="0" y="317454"/>
                  </a:cubicBezTo>
                  <a:lnTo>
                    <a:pt x="0" y="10749"/>
                  </a:lnTo>
                  <a:cubicBezTo>
                    <a:pt x="0" y="7898"/>
                    <a:pt x="1133" y="5164"/>
                    <a:pt x="3148" y="3148"/>
                  </a:cubicBezTo>
                  <a:cubicBezTo>
                    <a:pt x="5164" y="1133"/>
                    <a:pt x="7898" y="0"/>
                    <a:pt x="10749" y="0"/>
                  </a:cubicBezTo>
                  <a:close/>
                </a:path>
              </a:pathLst>
            </a:custGeom>
            <a:solidFill>
              <a:srgbClr val="437659">
                <a:alpha val="54902"/>
              </a:srgbClr>
            </a:solidFill>
          </p:spPr>
        </p:sp>
        <p:sp>
          <p:nvSpPr>
            <p:cNvPr name="TextBox 21" id="21"/>
            <p:cNvSpPr txBox="true"/>
            <p:nvPr/>
          </p:nvSpPr>
          <p:spPr>
            <a:xfrm>
              <a:off x="0" y="0"/>
              <a:ext cx="2941182" cy="328203"/>
            </a:xfrm>
            <a:prstGeom prst="rect">
              <a:avLst/>
            </a:prstGeom>
          </p:spPr>
          <p:txBody>
            <a:bodyPr anchor="ctr" rtlCol="false" tIns="50800" lIns="50800" bIns="50800" rIns="50800"/>
            <a:lstStyle/>
            <a:p>
              <a:pPr algn="ctr">
                <a:lnSpc>
                  <a:spcPts val="2279"/>
                </a:lnSpc>
              </a:pPr>
            </a:p>
          </p:txBody>
        </p:sp>
      </p:grpSp>
      <p:sp>
        <p:nvSpPr>
          <p:cNvPr name="TextBox 22" id="22"/>
          <p:cNvSpPr txBox="true"/>
          <p:nvPr/>
        </p:nvSpPr>
        <p:spPr>
          <a:xfrm rot="0">
            <a:off x="3017329" y="7873372"/>
            <a:ext cx="14066866" cy="1114425"/>
          </a:xfrm>
          <a:prstGeom prst="rect">
            <a:avLst/>
          </a:prstGeom>
        </p:spPr>
        <p:txBody>
          <a:bodyPr anchor="t" rtlCol="false" tIns="0" lIns="0" bIns="0" rIns="0">
            <a:spAutoFit/>
          </a:bodyPr>
          <a:lstStyle/>
          <a:p>
            <a:pPr algn="l">
              <a:lnSpc>
                <a:spcPts val="4500"/>
              </a:lnSpc>
            </a:pPr>
            <a:r>
              <a:rPr lang="en-US" sz="3000">
                <a:solidFill>
                  <a:srgbClr val="FFFFFF"/>
                </a:solidFill>
                <a:latin typeface="Montserrat"/>
                <a:ea typeface="Montserrat"/>
                <a:cs typeface="Montserrat"/>
                <a:sym typeface="Montserrat"/>
              </a:rPr>
              <a:t>Improved Detection: Increase the likelihood of detecting potential poaching activity through informed patrol decisions.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25722" r="-10067" b="-4845"/>
            </a:stretch>
          </a:blipFill>
        </p:spPr>
      </p:sp>
      <p:sp>
        <p:nvSpPr>
          <p:cNvPr name="TextBox 3" id="3"/>
          <p:cNvSpPr txBox="true"/>
          <p:nvPr/>
        </p:nvSpPr>
        <p:spPr>
          <a:xfrm rot="0">
            <a:off x="5321907" y="4351042"/>
            <a:ext cx="9136177" cy="1156969"/>
          </a:xfrm>
          <a:prstGeom prst="rect">
            <a:avLst/>
          </a:prstGeom>
        </p:spPr>
        <p:txBody>
          <a:bodyPr anchor="t" rtlCol="false" tIns="0" lIns="0" bIns="0" rIns="0">
            <a:spAutoFit/>
          </a:bodyPr>
          <a:lstStyle/>
          <a:p>
            <a:pPr algn="l">
              <a:lnSpc>
                <a:spcPts val="8799"/>
              </a:lnSpc>
            </a:pPr>
            <a:r>
              <a:rPr lang="en-US" b="true" sz="8799">
                <a:solidFill>
                  <a:srgbClr val="FFFFFF"/>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DAHV1iyTwrk</dc:identifier>
  <dcterms:modified xsi:type="dcterms:W3CDTF">2011-08-01T06:04:30Z</dcterms:modified>
  <cp:revision>1</cp:revision>
  <dc:title>GuardTrail — Adaptive Anti-Poaching Patrol System</dc:title>
</cp:coreProperties>
</file>